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Ve0wWLj85SMGmyOR7bbYctMVh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12B3C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B2135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7–13 sep</c:v>
                </c:pt>
                <c:pt idx="1">
                  <c:v>14–20 sep</c:v>
                </c:pt>
                <c:pt idx="2">
                  <c:v>21–27 sep</c:v>
                </c:pt>
                <c:pt idx="3">
                  <c:v>28 sep–4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27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1-4CC4-95A1-E65239A058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qué este stack: MariaDB es impuesto por el hosting V2Network (cPanel no ofrece PostgreSQL), por eso usamos solo el ORM de Django y nada específico de PostgreSQL. Django REST Framework entrega autenticación, permisos, paginación y documentación OpenAPI listos. Angular con TypeScript da una estructura modular por features. Todo es código abierto: $0 en licencias.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Fundamentación del avance: los sprints 1 a 4 cerraron con el gate de calidad (compila, tests, funciona, BD correcta, commit). Las dificultades y la retroalimentación del mandante quedaron registradas como lecciones aprendidas (LA-001, 002, 004, 005, 006, 007, 014, 015) y como decisiones en DECISIONES.md.</a:t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Hitos: 30/08 cierre de Planificación y Diseño; 30/09 cierre de Implementación/MVP; 30/10 cierre de Pruebas; 15/11 Go-Live; 26/11 cierre y entrega final. Al 06/10 estamos en el Sprint 5, dentro de lo planificado.</a:t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Tarifas por hora: Scrum Master $12.500, Product Owner $13.000, Desarrolladores $15.000. Recursos tecnológicos (iguales en las 3 opciones): notebook $300.000, 3 lectores USB $45.000, hosting V2Network $41.531, API SII 5 UF $205.000 y 2 suscripciones Claude $40.000. Rentabilidad 15% sobre el costo; VAN a tasa 18%. Años 2 y 3: solo renovación del hosting ($41.531/año). Se eligió la Opción 3 porque es la única que cumple los 18 entregables más el componente de complejidad avanzada (predicción y reposición) exigido para el grupo.</a:t>
            </a:r>
            <a:endParaRPr/>
          </a:p>
        </p:txBody>
      </p:sp>
      <p:sp>
        <p:nvSpPr>
          <p:cNvPr id="248" name="Google Shape;24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Capturas tomadas de la aplicación real (Angular + API Django) con los datos de demostración del proyecto. El POS está pensado para un cajero que atiende rápido: el foco queda siempre en el campo de escaneo y el carrito y el cobro están en la misma pantalla.</a:t>
            </a:r>
            <a:endParaRPr/>
          </a:p>
        </p:txBody>
      </p:sp>
      <p:sp>
        <p:nvSpPr>
          <p:cNvPr id="312" name="Google Shape;3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6 KPI salen de la especificación del cliente para el dashboard. Ventas netas: suma de ventas pagadas, comparada con el período anterior. Pedidos procesados: número de ventas pagadas. Margen bruto: ingresos menos costo de venta sobre ingresos, con meta de 30%. Precisión de recepción: porcentaje de líneas de órdenes de compra que llegaron completas; como es venta de mostrador, recibir mercadería es la operación de "picking" real del negocio. Quiebre de stock: productos activos sin stock sobre productos activos. Recuperación: ingresos del producto sobre su costo de compra en el mismo período; sobre 100% significa que ya recuperó lo invertido. Este último responde directamente al problema de la liquidadora: compra mercadería para el crédito fiscal de IVA y necesita saber si esa mercadería rota o se queda en bodega.</a:t>
            </a:r>
            <a:endParaRPr/>
          </a:p>
        </p:txBody>
      </p:sp>
      <p:sp>
        <p:nvSpPr>
          <p:cNvPr id="335" name="Google Shape;33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Cifras obtenidas ejecutando la suite el 06/10/2026: pytest 361 tests aprobados con 96% de cobertura; Vitest 33 tests aprobados. La documentación de gestión vive en el repositorio Portafolio_De_Titulo (fases y evidencias individuales).</a:t>
            </a:r>
            <a:endParaRPr/>
          </a:p>
        </p:txBody>
      </p:sp>
      <p:sp>
        <p:nvSpPr>
          <p:cNvPr id="391" name="Google Shape;39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0505" y="167745"/>
            <a:ext cx="3291840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548640" y="566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i="0" lang="en-US" sz="2400" u="none" cap="none" strike="noStrike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548640" y="9144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Equipo de desarrollo · Grupo N°01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548640" y="16916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INFORME DE AVANCE · PROYECTO APT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548640" y="19659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Picking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278892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6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6E6EF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comercial, inventario y abastecimiento con analítica predictiva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Cliente: Liquidadora Los Europeos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931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Julian Bernal · Martin Campos · Giovanni Gonzalez · Sebastian Osorio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48640" y="4206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Duoc UC Plaza Norte · Portafolio de Título · Docente: Osnellys Andrade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 title="Sticker QR Neon de Acces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825" y="2958325"/>
            <a:ext cx="1763201" cy="22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METODOLOGÍA Y TECNOLOGÍAS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La solución y cómo la construimos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05156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0B2135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640080" y="1051560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POS Picking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conecta compras, inventario y punto de venta en un solo flujo trazable, para que el stock del sistema coincida con la bodega y la liquidadora cumpla ante el SII.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457200" y="17556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Scrum · 8 sprints quincenales · cada etapa se cierra solo si pasa el gate de calidad: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057400"/>
            <a:ext cx="1627632" cy="384048"/>
          </a:xfrm>
          <a:prstGeom prst="chevron">
            <a:avLst>
              <a:gd fmla="val 50000" name="adj"/>
            </a:avLst>
          </a:prstGeom>
          <a:solidFill>
            <a:srgbClr val="12A8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640080" y="20574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121408" y="2057400"/>
            <a:ext cx="1627632" cy="384048"/>
          </a:xfrm>
          <a:prstGeom prst="chevron">
            <a:avLst>
              <a:gd fmla="val 50000" name="adj"/>
            </a:avLst>
          </a:prstGeom>
          <a:solidFill>
            <a:srgbClr val="12B3C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2304288" y="20574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pasan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785616" y="2057400"/>
            <a:ext cx="1627632" cy="384048"/>
          </a:xfrm>
          <a:prstGeom prst="chevron">
            <a:avLst>
              <a:gd fmla="val 50000" name="adj"/>
            </a:avLst>
          </a:prstGeom>
          <a:solidFill>
            <a:srgbClr val="12A8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3968496" y="20574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 end-to-end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49824" y="2057400"/>
            <a:ext cx="1627632" cy="384048"/>
          </a:xfrm>
          <a:prstGeom prst="chevron">
            <a:avLst>
              <a:gd fmla="val 50000" name="adj"/>
            </a:avLst>
          </a:prstGeom>
          <a:solidFill>
            <a:srgbClr val="12B3C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5632704" y="20574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BD correcta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14032" y="2057400"/>
            <a:ext cx="1627632" cy="384048"/>
          </a:xfrm>
          <a:prstGeom prst="chevron">
            <a:avLst>
              <a:gd fmla="val 50000" name="adj"/>
            </a:avLst>
          </a:prstGeom>
          <a:solidFill>
            <a:srgbClr val="12A8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7296912" y="20574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 en Git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260604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66928" y="2734056"/>
            <a:ext cx="420624" cy="42062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" y="283921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1078992" y="26974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Angular 22 + TypeScript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078992" y="297180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Componentes standalone y signals; tipado estricto. Empaquetado como .exe con Electron.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46120" y="260604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355848" y="2734056"/>
            <a:ext cx="420624" cy="420624"/>
          </a:xfrm>
          <a:prstGeom prst="ellipse">
            <a:avLst/>
          </a:prstGeom>
          <a:solidFill>
            <a:srgbClr val="5FAF12"/>
          </a:solidFill>
          <a:ln cap="flat" cmpd="sng" w="12700">
            <a:solidFill>
              <a:srgbClr val="5FAF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1004" y="283921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/>
        </p:nvSpPr>
        <p:spPr>
          <a:xfrm>
            <a:off x="3867912" y="26974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Python · Django 5.2 + DRF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3867912" y="297180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ORM, migraciones y transacciones atómicas; API REST documentada en Swagger.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035040" y="260604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144768" y="2734056"/>
            <a:ext cx="420624" cy="42062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9924" y="283921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6656832" y="26974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MariaDB 10.11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656832" y="297180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Es el motor del hosting. InnoDB: ACID y bloqueo de fila.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3639312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66928" y="3767328"/>
            <a:ext cx="420624" cy="420624"/>
          </a:xfrm>
          <a:prstGeom prst="ellipse">
            <a:avLst/>
          </a:prstGeom>
          <a:solidFill>
            <a:srgbClr val="5FAF12"/>
          </a:solidFill>
          <a:ln cap="flat" cmpd="sng" w="12700">
            <a:solidFill>
              <a:srgbClr val="5FAF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" y="387248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078992" y="37307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JWT + RBAC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1078992" y="400507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API sin estado; los permisos de cada rol se validan siempre en el backend.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246120" y="3639312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355848" y="3767328"/>
            <a:ext cx="420624" cy="42062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61004" y="387248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3867912" y="37307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scikit-learn python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3867912" y="400507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Random Forest para predecir la demanda semanal por producto.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035040" y="3639312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144768" y="3767328"/>
            <a:ext cx="420624" cy="420624"/>
          </a:xfrm>
          <a:prstGeom prst="ellipse">
            <a:avLst/>
          </a:prstGeom>
          <a:solidFill>
            <a:srgbClr val="5FAF12"/>
          </a:solidFill>
          <a:ln cap="flat" cmpd="sng" w="12700">
            <a:solidFill>
              <a:srgbClr val="5FAF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9924" y="387248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6656832" y="37307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Git, GitHub Actions y Docker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656832" y="400507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Ramas + Pull Request, CI con lint y tests en cada push; entorno local reproducible.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DISEÑO TÉCNICO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1188720"/>
            <a:ext cx="21945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1005840" y="129844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594360" y="17373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Angular + TypeScript + Angular Material · App de escritorio .exe (Electron) · Lector USB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" y="2834640"/>
            <a:ext cx="219456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1005840" y="294436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Lector de barras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594360" y="33832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Keyboard-wedge: &lt; 50 ms entre teclas + Enter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46120" y="1188720"/>
            <a:ext cx="2743200" cy="2743200"/>
          </a:xfrm>
          <a:prstGeom prst="roundRect">
            <a:avLst>
              <a:gd fmla="val 2667" name="adj"/>
            </a:avLst>
          </a:prstGeom>
          <a:solidFill>
            <a:srgbClr val="0B2135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328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3794760" y="129844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3383280" y="173736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6E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6EF"/>
                </a:solidFill>
                <a:latin typeface="Calibri"/>
                <a:ea typeface="Calibri"/>
                <a:cs typeface="Calibri"/>
                <a:sym typeface="Calibri"/>
              </a:rPr>
              <a:t>Django 5.2 + Django REST Framework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6E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6EF"/>
                </a:solidFill>
                <a:latin typeface="Calibri"/>
                <a:ea typeface="Calibri"/>
                <a:cs typeface="Calibri"/>
                <a:sym typeface="Calibri"/>
              </a:rPr>
              <a:t>JWT (access 15 min / refresh 1 día) · RBAC deny-by-default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6E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6EF"/>
                </a:solidFill>
                <a:latin typeface="Calibri"/>
                <a:ea typeface="Calibri"/>
                <a:cs typeface="Calibri"/>
                <a:sym typeface="Calibri"/>
              </a:rPr>
              <a:t>Apps: usuarios, catálogo, inventario, compras, ventas/POS, caja, boleta, alertas, dashboard, predicción, reposición, auditoría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583680" y="1188720"/>
            <a:ext cx="210312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7132320" y="129844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MariaDB 10.11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720840" y="173736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InnoDB, utf8mb4 · Transacciones y select_for_update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583680" y="2834640"/>
            <a:ext cx="21031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084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7132320" y="294436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Módulo ML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6720840" y="3383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Random Forest (.joblib) codificado en python · carga perezosa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3"/>
          <p:cNvCxnSpPr/>
          <p:nvPr/>
        </p:nvCxnSpPr>
        <p:spPr>
          <a:xfrm>
            <a:off x="2697480" y="187452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12B3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" name="Google Shape;108;p3"/>
          <p:cNvCxnSpPr/>
          <p:nvPr/>
        </p:nvCxnSpPr>
        <p:spPr>
          <a:xfrm>
            <a:off x="6035040" y="187452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12B3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" name="Google Shape;109;p3"/>
          <p:cNvCxnSpPr/>
          <p:nvPr/>
        </p:nvCxnSpPr>
        <p:spPr>
          <a:xfrm>
            <a:off x="6035040" y="338328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12B3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" name="Google Shape;110;p3"/>
          <p:cNvSpPr txBox="1"/>
          <p:nvPr/>
        </p:nvSpPr>
        <p:spPr>
          <a:xfrm>
            <a:off x="2651760" y="16002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5989320" y="16002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4114800"/>
            <a:ext cx="8229600" cy="530352"/>
          </a:xfrm>
          <a:prstGeom prst="roundRect">
            <a:avLst>
              <a:gd fmla="val 13793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1792" y="42336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005840" y="416052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V2Network (cPanel) · </a:t>
            </a:r>
            <a:r>
              <a:rPr lang="en-US" sz="10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Passenger + MariaDB del hosting · cron de cPanel para alertas, reposición y reintento DTE · Docker solo en desarrollo · SII vía interfaz ProveedorDTE (MOCK)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AVANCE AL 06/10/2026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Sprints realizados y ajustes al proyecto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1051560"/>
            <a:ext cx="1554480" cy="1508760"/>
          </a:xfrm>
          <a:prstGeom prst="roundRect">
            <a:avLst>
              <a:gd fmla="val 4848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566928" y="11247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66928" y="1399032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E2F6EC"/>
          </a:solidFill>
          <a:ln cap="flat" cmpd="sng" w="12700">
            <a:solidFill>
              <a:srgbClr val="E2F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566928" y="13990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7A0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3F7A0C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66928" y="1645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10–20 ago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66928" y="18745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Levantamiento en terreno, requisitos (RF/RNF) y Acta de Constitución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121408" y="1051560"/>
            <a:ext cx="1554480" cy="1508760"/>
          </a:xfrm>
          <a:prstGeom prst="roundRect">
            <a:avLst>
              <a:gd fmla="val 4848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231136" y="11247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231136" y="1399032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E2F6EC"/>
          </a:solidFill>
          <a:ln cap="flat" cmpd="sng" w="12700">
            <a:solidFill>
              <a:srgbClr val="E2F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2231136" y="13990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7A0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3F7A0C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2231136" y="1645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21–31 ago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2231136" y="18745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Arquitectura, modelo ER en MariaDB y diseño del componente 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785616" y="1051560"/>
            <a:ext cx="1554480" cy="1508760"/>
          </a:xfrm>
          <a:prstGeom prst="roundRect">
            <a:avLst>
              <a:gd fmla="val 4848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3895344" y="11247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895344" y="1399032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E2F6EC"/>
          </a:solidFill>
          <a:ln cap="flat" cmpd="sng" w="12700">
            <a:solidFill>
              <a:srgbClr val="E2F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3895344" y="13990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7A0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3F7A0C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895344" y="1645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1–15 sep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3895344" y="18745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API base, JWT, roles y permisos, catálogo e inventario con Kardex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49824" y="1051560"/>
            <a:ext cx="1554480" cy="1508760"/>
          </a:xfrm>
          <a:prstGeom prst="roundRect">
            <a:avLst>
              <a:gd fmla="val 4848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5559552" y="11247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559552" y="1399032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E2F6EC"/>
          </a:solidFill>
          <a:ln cap="flat" cmpd="sng" w="12700">
            <a:solidFill>
              <a:srgbClr val="E2F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5559552" y="13990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7A0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3F7A0C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5559552" y="1645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16–30 sep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559552" y="18745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Compras, POS y caja transaccionales, boleta MOCK, ML y lector de barras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114032" y="1051560"/>
            <a:ext cx="155448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7223760" y="11247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223760" y="1399032"/>
            <a:ext cx="868680" cy="201168"/>
          </a:xfrm>
          <a:prstGeom prst="roundRect">
            <a:avLst>
              <a:gd fmla="val 22727" name="adj"/>
            </a:avLst>
          </a:prstGeom>
          <a:solidFill>
            <a:srgbClr val="FFF3DD"/>
          </a:solidFill>
          <a:ln cap="flat" cmpd="sng" w="12700">
            <a:solidFill>
              <a:srgbClr val="FFF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7223760" y="139903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223760" y="1645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1–15 oct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7223760" y="18745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Pruebas funcionales, testing exploratorio y corrección de defectos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57200" y="2724912"/>
            <a:ext cx="2651760" cy="1901952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566928" y="2816352"/>
            <a:ext cx="365760" cy="365760"/>
          </a:xfrm>
          <a:prstGeom prst="ellipse">
            <a:avLst/>
          </a:prstGeom>
          <a:solidFill>
            <a:srgbClr val="F2A93B"/>
          </a:solidFill>
          <a:ln cap="flat" cmpd="sng" w="127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2907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1005840" y="28163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Dificultades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566928" y="3273552"/>
            <a:ext cx="24688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Hosting cPanel sin Docker en producción &gt; despliegue con Passenger y cron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Sin historial real de ventas &gt; dataset sintético marcado como simulado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Ventana ML 6 vs 12 semanas &gt; regla separada demo / producción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246120" y="2724912"/>
            <a:ext cx="2651760" cy="1901952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3355848" y="2816352"/>
            <a:ext cx="365760" cy="365760"/>
          </a:xfrm>
          <a:prstGeom prst="ellipse">
            <a:avLst/>
          </a:prstGeom>
          <a:solidFill>
            <a:srgbClr val="5FAF12"/>
          </a:solidFill>
          <a:ln cap="flat" cmpd="sng" w="12700">
            <a:solidFill>
              <a:srgbClr val="5FAF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7288" y="2907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 txBox="1"/>
          <p:nvPr/>
        </p:nvSpPr>
        <p:spPr>
          <a:xfrm>
            <a:off x="3794760" y="28163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Facilitadores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3355848" y="3273552"/>
            <a:ext cx="24688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Angular signals: ~15% menos tiempo en las vistas del POS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CI con GitHub Actions detecta errores antes de revisar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Interfaz ProveedorDTE: boleta lista para el proveedor real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035040" y="2724912"/>
            <a:ext cx="2651760" cy="1901952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6144768" y="2816352"/>
            <a:ext cx="365760" cy="365760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6208" y="2907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6583680" y="28163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Retroalimentación → ajuste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6144768" y="3273552"/>
            <a:ext cx="24688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8 rondas de feedback del cliente: bugs del POS, rediseño de caja, pagos mixtos y vuelto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Dashboard reconstruido según la especificación del cliente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Flujo real de compras e IVA validado con el mandante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PLANIFICACIÓN 10/08 – 26/11/2026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Carta Gantt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788920" y="1051560"/>
            <a:ext cx="1190398" cy="274320"/>
          </a:xfrm>
          <a:prstGeom prst="rect">
            <a:avLst/>
          </a:prstGeom>
          <a:solidFill>
            <a:srgbClr val="0B213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2788920" y="1051560"/>
            <a:ext cx="11903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Agosto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979318" y="1051560"/>
            <a:ext cx="1623270" cy="274320"/>
          </a:xfrm>
          <a:prstGeom prst="rect">
            <a:avLst/>
          </a:prstGeom>
          <a:solidFill>
            <a:srgbClr val="1332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3979318" y="1051560"/>
            <a:ext cx="16232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Septiembre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602588" y="1051560"/>
            <a:ext cx="1677379" cy="274320"/>
          </a:xfrm>
          <a:prstGeom prst="rect">
            <a:avLst/>
          </a:prstGeom>
          <a:solidFill>
            <a:srgbClr val="0B213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5602588" y="1051560"/>
            <a:ext cx="16773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Octubre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279966" y="1051560"/>
            <a:ext cx="1406834" cy="274320"/>
          </a:xfrm>
          <a:prstGeom prst="rect">
            <a:avLst/>
          </a:prstGeom>
          <a:solidFill>
            <a:srgbClr val="1332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7279966" y="1051560"/>
            <a:ext cx="14068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Noviembre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457200" y="1051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Actividad (EDT)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E9F1F5"/>
          </a:solidFill>
          <a:ln cap="flat" cmpd="sng" w="12700">
            <a:solidFill>
              <a:srgbClr val="E9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502920" y="14173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1.1 Planificación y requisitos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788920" y="1472184"/>
            <a:ext cx="595199" cy="164592"/>
          </a:xfrm>
          <a:prstGeom prst="roundRect">
            <a:avLst>
              <a:gd fmla="val 22222" name="adj"/>
            </a:avLst>
          </a:prstGeom>
          <a:solidFill>
            <a:srgbClr val="5FAF1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2788920" y="1472184"/>
            <a:ext cx="59519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502920" y="16916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1.2 Diseño: arquitectura, ER y 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384119" y="1746504"/>
            <a:ext cx="595199" cy="164592"/>
          </a:xfrm>
          <a:prstGeom prst="roundRect">
            <a:avLst>
              <a:gd fmla="val 22222" name="adj"/>
            </a:avLst>
          </a:prstGeom>
          <a:solidFill>
            <a:srgbClr val="5FAF1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3384119" y="1746504"/>
            <a:ext cx="59519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E9F1F5"/>
          </a:solidFill>
          <a:ln cap="flat" cmpd="sng" w="12700">
            <a:solidFill>
              <a:srgbClr val="E9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502920" y="19659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1.3 Auth, roles y catálogo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979318" y="2020824"/>
            <a:ext cx="811635" cy="164592"/>
          </a:xfrm>
          <a:prstGeom prst="roundRect">
            <a:avLst>
              <a:gd fmla="val 22222" name="adj"/>
            </a:avLst>
          </a:prstGeom>
          <a:solidFill>
            <a:srgbClr val="5FAF1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3979318" y="2020824"/>
            <a:ext cx="81163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502920" y="22402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1.3 Inventario, compras, POS y caja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979318" y="2295144"/>
            <a:ext cx="1623270" cy="164592"/>
          </a:xfrm>
          <a:prstGeom prst="roundRect">
            <a:avLst>
              <a:gd fmla="val 22222" name="adj"/>
            </a:avLst>
          </a:prstGeom>
          <a:solidFill>
            <a:srgbClr val="5FAF1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3979318" y="2295144"/>
            <a:ext cx="16232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S3–S4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solidFill>
            <a:srgbClr val="E9F1F5"/>
          </a:solidFill>
          <a:ln cap="flat" cmpd="sng" w="12700">
            <a:solidFill>
              <a:srgbClr val="E9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502920" y="251460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1.3 Boleta MOCK, ML y lector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790953" y="2569464"/>
            <a:ext cx="811635" cy="164592"/>
          </a:xfrm>
          <a:prstGeom prst="roundRect">
            <a:avLst>
              <a:gd fmla="val 22222" name="adj"/>
            </a:avLst>
          </a:prstGeom>
          <a:solidFill>
            <a:srgbClr val="5FAF1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4790953" y="2569464"/>
            <a:ext cx="81163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502920" y="27889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1.3 Frontend Angular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358081" y="2843784"/>
            <a:ext cx="2056142" cy="164592"/>
          </a:xfrm>
          <a:prstGeom prst="roundRect">
            <a:avLst>
              <a:gd fmla="val 22222" name="adj"/>
            </a:avLst>
          </a:prstGeom>
          <a:solidFill>
            <a:srgbClr val="12B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358081" y="2843784"/>
            <a:ext cx="2056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S3–S5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solidFill>
            <a:srgbClr val="E9F1F5"/>
          </a:solidFill>
          <a:ln cap="flat" cmpd="sng" w="12700">
            <a:solidFill>
              <a:srgbClr val="E9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502920" y="3063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1.4 Pruebas funcionales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602588" y="3118104"/>
            <a:ext cx="811635" cy="164592"/>
          </a:xfrm>
          <a:prstGeom prst="roundRect">
            <a:avLst>
              <a:gd fmla="val 22222" name="adj"/>
            </a:avLst>
          </a:prstGeom>
          <a:solidFill>
            <a:srgbClr val="12B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5602588" y="3118104"/>
            <a:ext cx="81163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502920" y="33375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1.4 Carga k6, seguridad y .exe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414222" y="3392424"/>
            <a:ext cx="865744" cy="164592"/>
          </a:xfrm>
          <a:prstGeom prst="roundRect">
            <a:avLst>
              <a:gd fmla="val 22222" name="adj"/>
            </a:avLst>
          </a:prstGeom>
          <a:solidFill>
            <a:srgbClr val="B9CBD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6414222" y="3392424"/>
            <a:ext cx="865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solidFill>
            <a:srgbClr val="E9F1F5"/>
          </a:solidFill>
          <a:ln cap="flat" cmpd="sng" w="12700">
            <a:solidFill>
              <a:srgbClr val="E9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502920" y="36118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1.5 Despliegue V2Network y Go-Live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279966" y="3666744"/>
            <a:ext cx="811635" cy="164592"/>
          </a:xfrm>
          <a:prstGeom prst="roundRect">
            <a:avLst>
              <a:gd fmla="val 22222" name="adj"/>
            </a:avLst>
          </a:prstGeom>
          <a:solidFill>
            <a:srgbClr val="B9CBD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7279966" y="3666744"/>
            <a:ext cx="81163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502920" y="388620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1.6 Manuales, soporte y cierre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8091601" y="3941064"/>
            <a:ext cx="595199" cy="164592"/>
          </a:xfrm>
          <a:prstGeom prst="roundRect">
            <a:avLst>
              <a:gd fmla="val 22222" name="adj"/>
            </a:avLst>
          </a:prstGeom>
          <a:solidFill>
            <a:srgbClr val="B9CBD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8091601" y="3941064"/>
            <a:ext cx="59519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3842913" y="4224528"/>
            <a:ext cx="164592" cy="164592"/>
          </a:xfrm>
          <a:prstGeom prst="diamond">
            <a:avLst/>
          </a:prstGeom>
          <a:solidFill>
            <a:srgbClr val="0B2135"/>
          </a:solidFill>
          <a:ln cap="flat" cmpd="sng" w="12700">
            <a:solidFill>
              <a:srgbClr val="0B2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3605169" y="440740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30/08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520292" y="4224528"/>
            <a:ext cx="164592" cy="164592"/>
          </a:xfrm>
          <a:prstGeom prst="diamond">
            <a:avLst/>
          </a:prstGeom>
          <a:solidFill>
            <a:srgbClr val="0B2135"/>
          </a:solidFill>
          <a:ln cap="flat" cmpd="sng" w="12700">
            <a:solidFill>
              <a:srgbClr val="0B2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5282548" y="440740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30/09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7143561" y="4224528"/>
            <a:ext cx="164592" cy="164592"/>
          </a:xfrm>
          <a:prstGeom prst="diamond">
            <a:avLst/>
          </a:prstGeom>
          <a:solidFill>
            <a:srgbClr val="0B2135"/>
          </a:solidFill>
          <a:ln cap="flat" cmpd="sng" w="12700">
            <a:solidFill>
              <a:srgbClr val="0B2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6905817" y="440740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30/10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8009305" y="4224528"/>
            <a:ext cx="164592" cy="164592"/>
          </a:xfrm>
          <a:prstGeom prst="diamond">
            <a:avLst/>
          </a:prstGeom>
          <a:solidFill>
            <a:srgbClr val="0B2135"/>
          </a:solidFill>
          <a:ln cap="flat" cmpd="sng" w="12700">
            <a:solidFill>
              <a:srgbClr val="0B2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7771561" y="440740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15/11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8604504" y="4224528"/>
            <a:ext cx="164592" cy="164592"/>
          </a:xfrm>
          <a:prstGeom prst="diamond">
            <a:avLst/>
          </a:prstGeom>
          <a:solidFill>
            <a:srgbClr val="0B2135"/>
          </a:solidFill>
          <a:ln cap="flat" cmpd="sng" w="12700">
            <a:solidFill>
              <a:srgbClr val="0B2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8366760" y="440740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26/11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502920" y="42062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Hitos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5"/>
          <p:cNvCxnSpPr/>
          <p:nvPr/>
        </p:nvCxnSpPr>
        <p:spPr>
          <a:xfrm>
            <a:off x="5873132" y="1325880"/>
            <a:ext cx="0" cy="2880360"/>
          </a:xfrm>
          <a:prstGeom prst="straightConnector1">
            <a:avLst/>
          </a:prstGeom>
          <a:noFill/>
          <a:ln cap="flat" cmpd="sng" w="19050">
            <a:solidFill>
              <a:srgbClr val="E5484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8" name="Google Shape;238;p5"/>
          <p:cNvSpPr txBox="1"/>
          <p:nvPr/>
        </p:nvSpPr>
        <p:spPr>
          <a:xfrm>
            <a:off x="5461652" y="459943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Hoy 06/10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937760" y="685800"/>
            <a:ext cx="201168" cy="146304"/>
          </a:xfrm>
          <a:prstGeom prst="roundRect">
            <a:avLst>
              <a:gd fmla="val 18750" name="adj"/>
            </a:avLst>
          </a:prstGeom>
          <a:solidFill>
            <a:srgbClr val="5FAF12"/>
          </a:solidFill>
          <a:ln cap="flat" cmpd="sng" w="12700">
            <a:solidFill>
              <a:srgbClr val="5FAF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5184648" y="64922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5897880" y="685800"/>
            <a:ext cx="201168" cy="146304"/>
          </a:xfrm>
          <a:prstGeom prst="roundRect">
            <a:avLst>
              <a:gd fmla="val 18750" name="adj"/>
            </a:avLst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6144768" y="64922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858000" y="685800"/>
            <a:ext cx="201168" cy="146304"/>
          </a:xfrm>
          <a:prstGeom prst="roundRect">
            <a:avLst>
              <a:gd fmla="val 18750" name="adj"/>
            </a:avLst>
          </a:prstGeom>
          <a:solidFill>
            <a:srgbClr val="B9CBD4"/>
          </a:solidFill>
          <a:ln cap="flat" cmpd="sng" w="12700">
            <a:solidFill>
              <a:srgbClr val="B9C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 txBox="1"/>
          <p:nvPr/>
        </p:nvSpPr>
        <p:spPr>
          <a:xfrm>
            <a:off x="7104888" y="64922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EVALUACIÓN ECONÓMICA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Flujo de caja: tres opciones de costo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57200" y="1024128"/>
            <a:ext cx="2651760" cy="361188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621792" y="11155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COSTO BAJO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621792" y="13258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Opción 1 – Básica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621792" y="1572768"/>
            <a:ext cx="2377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$631.531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621792" y="199339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costo total año 1 · 0 h del equipo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21792" y="2240280"/>
            <a:ext cx="2322576" cy="128016"/>
          </a:xfrm>
          <a:prstGeom prst="rect">
            <a:avLst/>
          </a:prstGeom>
          <a:solidFill>
            <a:srgbClr val="E3ECF0"/>
          </a:solidFill>
          <a:ln cap="flat" cmpd="sng" w="12700">
            <a:solidFill>
              <a:srgbClr val="E3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21792" y="2240280"/>
            <a:ext cx="108157" cy="128016"/>
          </a:xfrm>
          <a:prstGeom prst="rect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621792" y="2487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Precio de venta (+15%)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1828800" y="2487168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$726.261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621792" y="27980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Flujo neto año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1828800" y="2798064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$94.730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621792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VAN (tasa 18%)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828800" y="310896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AF1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FAF12"/>
                </a:solidFill>
                <a:latin typeface="Calibri"/>
                <a:ea typeface="Calibri"/>
                <a:cs typeface="Calibri"/>
                <a:sym typeface="Calibri"/>
              </a:rPr>
              <a:t>$80.279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621792" y="34564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Incluye: </a:t>
            </a:r>
            <a:r>
              <a:rPr lang="en-US" sz="8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Funciones simples: POS, lector, caja, productos, inventario, compras y boleta. No valoriza horas.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621792" y="4041648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No incluye: </a:t>
            </a:r>
            <a:r>
              <a:rPr lang="en-US" sz="8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Sin inventario físico, alertas, dashboard, auditoría ni ML.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246120" y="1024128"/>
            <a:ext cx="2651760" cy="361188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3410712" y="11155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COSTO MEDIO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3410712" y="13258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Opción 2 – Intermedia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3410712" y="1572768"/>
            <a:ext cx="2377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$7.095.531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3410712" y="199339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costo total año 1 · 461 h del equipo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3410712" y="2240280"/>
            <a:ext cx="2322576" cy="128016"/>
          </a:xfrm>
          <a:prstGeom prst="rect">
            <a:avLst/>
          </a:prstGeom>
          <a:solidFill>
            <a:srgbClr val="E3ECF0"/>
          </a:solidFill>
          <a:ln cap="flat" cmpd="sng" w="12700">
            <a:solidFill>
              <a:srgbClr val="E3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3410712" y="2240280"/>
            <a:ext cx="108157" cy="128016"/>
          </a:xfrm>
          <a:prstGeom prst="rect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3518869" y="2240280"/>
            <a:ext cx="1107038" cy="128016"/>
          </a:xfrm>
          <a:prstGeom prst="rect">
            <a:avLst/>
          </a:prstGeom>
          <a:solidFill>
            <a:srgbClr val="8FDC1E"/>
          </a:solidFill>
          <a:ln cap="flat" cmpd="sng" w="12700">
            <a:solidFill>
              <a:srgbClr val="8FD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3410712" y="2487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Precio de venta (+15%)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4617720" y="2487168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$8.159.861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3410712" y="27980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Flujo neto año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4617720" y="2798064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$1.064.330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3410712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VAN (tasa 18%)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4617720" y="310896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AF1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FAF12"/>
                </a:solidFill>
                <a:latin typeface="Calibri"/>
                <a:ea typeface="Calibri"/>
                <a:cs typeface="Calibri"/>
                <a:sym typeface="Calibri"/>
              </a:rPr>
              <a:t>$901.974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3410712" y="34564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Incluye: </a:t>
            </a:r>
            <a:r>
              <a:rPr lang="en-US" sz="8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App completa y operativa: + inventario físico, Kardex, alertas, dashboard KPI, 4 roles y auditoría.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3410712" y="4041648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No incluye: </a:t>
            </a:r>
            <a:r>
              <a:rPr lang="en-US" sz="85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Sin ML (reposición por fórmula fija), sin k6 ni auditoría de seguridad.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6035040" y="1024128"/>
            <a:ext cx="2651760" cy="3611880"/>
          </a:xfrm>
          <a:prstGeom prst="roundRect">
            <a:avLst>
              <a:gd fmla="val 2759" name="adj"/>
            </a:avLst>
          </a:prstGeom>
          <a:solidFill>
            <a:srgbClr val="0B2135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 txBox="1"/>
          <p:nvPr/>
        </p:nvSpPr>
        <p:spPr>
          <a:xfrm>
            <a:off x="6199632" y="11155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COSTO ALTO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7772400" y="1106424"/>
            <a:ext cx="749808" cy="219456"/>
          </a:xfrm>
          <a:prstGeom prst="roundRect">
            <a:avLst>
              <a:gd fmla="val 20833" name="adj"/>
            </a:avLst>
          </a:prstGeom>
          <a:solidFill>
            <a:srgbClr val="8FDC1E"/>
          </a:solidFill>
          <a:ln cap="flat" cmpd="sng" w="12700">
            <a:solidFill>
              <a:srgbClr val="8FD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7772400" y="1106424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6199632" y="13258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Opción 3 – Completa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6199632" y="1572768"/>
            <a:ext cx="2377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$13.561.531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6199632" y="199339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costo total año 1 · 922 h del equipo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199632" y="2240280"/>
            <a:ext cx="2322576" cy="128016"/>
          </a:xfrm>
          <a:prstGeom prst="rect">
            <a:avLst/>
          </a:prstGeom>
          <a:solidFill>
            <a:srgbClr val="26435E"/>
          </a:solidFill>
          <a:ln cap="flat" cmpd="sng" w="12700">
            <a:solidFill>
              <a:srgbClr val="2643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6199632" y="2240280"/>
            <a:ext cx="108157" cy="128016"/>
          </a:xfrm>
          <a:prstGeom prst="rect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6307789" y="2240280"/>
            <a:ext cx="2214419" cy="128016"/>
          </a:xfrm>
          <a:prstGeom prst="rect">
            <a:avLst/>
          </a:prstGeom>
          <a:solidFill>
            <a:srgbClr val="8FDC1E"/>
          </a:solidFill>
          <a:ln cap="flat" cmpd="sng" w="12700">
            <a:solidFill>
              <a:srgbClr val="8FD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6199632" y="2487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Precio de venta (+15%)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7406640" y="2487168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$15.595.761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6199632" y="27980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Flujo neto año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7406640" y="2798064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$2.034.230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6199632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VAN (tasa 18%)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06640" y="310896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$1.723.923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6199632" y="34564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Incluye: </a:t>
            </a:r>
            <a:r>
              <a:rPr lang="en-US" sz="85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18 entregables + predicción de demanda y reposición con ML, pruebas de carga k6 y auditoría de seguridad.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6199632" y="4041648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incluye: </a:t>
            </a:r>
            <a:r>
              <a:rPr lang="en-US" sz="85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Solo quedan fuera las pasarelas de pago y los folios reales del SII.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572000" y="4800600"/>
            <a:ext cx="164592" cy="109728"/>
          </a:xfrm>
          <a:prstGeom prst="rect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 txBox="1"/>
          <p:nvPr/>
        </p:nvSpPr>
        <p:spPr>
          <a:xfrm>
            <a:off x="4773168" y="475488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Recursos tecnológicos $631.531 (iguales en las 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7040880" y="4800600"/>
            <a:ext cx="164592" cy="109728"/>
          </a:xfrm>
          <a:prstGeom prst="rect">
            <a:avLst/>
          </a:prstGeom>
          <a:solidFill>
            <a:srgbClr val="8FDC1E"/>
          </a:solidFill>
          <a:ln cap="flat" cmpd="sng" w="12700">
            <a:solidFill>
              <a:srgbClr val="8FD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7242048" y="475488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Horas del equipo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SECCIONES PRINCIPALES · 1/2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La app: operación en tienda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7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457200" y="1024128"/>
            <a:ext cx="502920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pos.png" id="321" name="Google Shape;3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" y="1068208"/>
            <a:ext cx="4956048" cy="224355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7"/>
          <p:cNvSpPr txBox="1"/>
          <p:nvPr/>
        </p:nvSpPr>
        <p:spPr>
          <a:xfrm>
            <a:off x="457200" y="3456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Punto de venta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457200" y="374904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El lector USB «teclea» el código: lo detectamos por velocidad (&lt; 50 ms entre teclas) y el producto entra al carrito sin clics; también se puede escribir el SKU.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Total con IVA incluido, descuentos con autorización y pagos mixtos (efectivo, débito, crédito, transferencia).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La venta se confirma en una transacción con bloqueo de fila: dos cajas no pueden vender la misma última unidad.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5669280" y="1024128"/>
            <a:ext cx="301752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caja.png" id="325" name="Google Shape;32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5856" y="1069892"/>
            <a:ext cx="2944368" cy="169155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7"/>
          <p:cNvSpPr txBox="1"/>
          <p:nvPr/>
        </p:nvSpPr>
        <p:spPr>
          <a:xfrm>
            <a:off x="5669280" y="28803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Caja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5669280" y="3136392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Una caja abierta por vendedor; calcula el saldo esperado por medio de pago y registra la diferencia al cerrar.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5669280" y="3749040"/>
            <a:ext cx="30175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login.png" id="329" name="Google Shape;32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3288" y="3813048"/>
            <a:ext cx="597254" cy="78638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7"/>
          <p:cNvSpPr txBox="1"/>
          <p:nvPr/>
        </p:nvSpPr>
        <p:spPr>
          <a:xfrm>
            <a:off x="6403694" y="3794760"/>
            <a:ext cx="223738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Login y roles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 txBox="1"/>
          <p:nvPr/>
        </p:nvSpPr>
        <p:spPr>
          <a:xfrm>
            <a:off x="6403694" y="4041648"/>
            <a:ext cx="219166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JWT; cada rol ve solo su menú y el backend valida cada permiso.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SECCIONES PRINCIPALES · 2/2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Dashboard y KPIs: por qué la app es así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8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457200" y="1024128"/>
            <a:ext cx="3246120" cy="2304288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dashboard.png" id="344" name="Google Shape;3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54" y="1060704"/>
            <a:ext cx="3137813" cy="223113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8"/>
          <p:cNvSpPr txBox="1"/>
          <p:nvPr/>
        </p:nvSpPr>
        <p:spPr>
          <a:xfrm>
            <a:off x="457200" y="3401568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Los KPI se definieron con el cliente y se calculan en vivo con consultas agregadas en MariaDB, filtrables por fecha y exportables a PDF.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57200" y="3950208"/>
            <a:ext cx="292608" cy="292608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40233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8"/>
          <p:cNvSpPr txBox="1"/>
          <p:nvPr/>
        </p:nvSpPr>
        <p:spPr>
          <a:xfrm>
            <a:off x="822960" y="395020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Kardex: </a:t>
            </a: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cada cambio de stock con usuario, fecha y saldo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57200" y="4315968"/>
            <a:ext cx="292608" cy="292608"/>
          </a:xfrm>
          <a:prstGeom prst="ellipse">
            <a:avLst/>
          </a:prstGeom>
          <a:solidFill>
            <a:srgbClr val="5FAF12"/>
          </a:solidFill>
          <a:ln cap="flat" cmpd="sng" w="12700">
            <a:solidFill>
              <a:srgbClr val="5FAF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438912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8"/>
          <p:cNvSpPr txBox="1"/>
          <p:nvPr/>
        </p:nvSpPr>
        <p:spPr>
          <a:xfrm>
            <a:off x="822960" y="431596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Reposición IA: </a:t>
            </a: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sugiere cuánto comprar; el admin aprueba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931920" y="1024128"/>
            <a:ext cx="2340864" cy="1133856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023360" y="1115568"/>
            <a:ext cx="237744" cy="23774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4023360" y="111556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4334256" y="10972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Ventas netas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 txBox="1"/>
          <p:nvPr/>
        </p:nvSpPr>
        <p:spPr>
          <a:xfrm>
            <a:off x="4041648" y="138988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Σ ventas pagadas del período vs. el período anterior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 txBox="1"/>
          <p:nvPr/>
        </p:nvSpPr>
        <p:spPr>
          <a:xfrm>
            <a:off x="4041648" y="1645920"/>
            <a:ext cx="2139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Muestra si el día va mejor o peor; las anuladas no cuentan, así cuadra con la caja y el SII.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345936" y="1024128"/>
            <a:ext cx="2340864" cy="1133856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6437376" y="1115568"/>
            <a:ext cx="237744" cy="23774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 txBox="1"/>
          <p:nvPr/>
        </p:nvSpPr>
        <p:spPr>
          <a:xfrm>
            <a:off x="6437376" y="111556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6748272" y="10972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Pedidos procesados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6455664" y="138988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N° de ventas pagadas (boletas) por día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 txBox="1"/>
          <p:nvPr/>
        </p:nvSpPr>
        <p:spPr>
          <a:xfrm>
            <a:off x="6455664" y="1645920"/>
            <a:ext cx="2139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Carga de trabajo en caja: ayuda a decidir cuántos vendedores poner por turno.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3931920" y="2240280"/>
            <a:ext cx="2340864" cy="1133856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4023360" y="2331720"/>
            <a:ext cx="237744" cy="23774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 txBox="1"/>
          <p:nvPr/>
        </p:nvSpPr>
        <p:spPr>
          <a:xfrm>
            <a:off x="4023360" y="233172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 txBox="1"/>
          <p:nvPr/>
        </p:nvSpPr>
        <p:spPr>
          <a:xfrm>
            <a:off x="4334256" y="2313432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Margen bruto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 txBox="1"/>
          <p:nvPr/>
        </p:nvSpPr>
        <p:spPr>
          <a:xfrm>
            <a:off x="4041648" y="260604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(ingresos − costo de venta) ÷ ingresos · meta 30%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 txBox="1"/>
          <p:nvPr/>
        </p:nvSpPr>
        <p:spPr>
          <a:xfrm>
            <a:off x="4041648" y="2862072"/>
            <a:ext cx="2139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En liquidación se vende con descuento: confirma que igual queda ganancia.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6345936" y="2240280"/>
            <a:ext cx="2340864" cy="1133856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6437376" y="2331720"/>
            <a:ext cx="237744" cy="23774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 txBox="1"/>
          <p:nvPr/>
        </p:nvSpPr>
        <p:spPr>
          <a:xfrm>
            <a:off x="6437376" y="233172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6748272" y="2313432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Precisión de recepción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6455664" y="260604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% de líneas de compra recibidas completas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6455664" y="2862072"/>
            <a:ext cx="2139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Aquí el «picking» real es recibir: detecta proveedores que entregan incompleto, origen de descuadres.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3931920" y="3456432"/>
            <a:ext cx="2340864" cy="1133856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4023360" y="3547872"/>
            <a:ext cx="237744" cy="237744"/>
          </a:xfrm>
          <a:prstGeom prst="ellipse">
            <a:avLst/>
          </a:prstGeom>
          <a:solidFill>
            <a:srgbClr val="12B3CC"/>
          </a:solidFill>
          <a:ln cap="flat" cmpd="sng" w="12700">
            <a:solidFill>
              <a:srgbClr val="12B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4023360" y="354787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 txBox="1"/>
          <p:nvPr/>
        </p:nvSpPr>
        <p:spPr>
          <a:xfrm>
            <a:off x="4334256" y="3529584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Quiebre de stock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4041648" y="382219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productos activos sin stock ÷ productos activos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 txBox="1"/>
          <p:nvPr/>
        </p:nvSpPr>
        <p:spPr>
          <a:xfrm>
            <a:off x="4041648" y="4078224"/>
            <a:ext cx="2139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Cada quiebre es venta perdida; alimenta la reposición sugerida.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6345936" y="3456432"/>
            <a:ext cx="2340864" cy="1133856"/>
          </a:xfrm>
          <a:prstGeom prst="roundRect">
            <a:avLst>
              <a:gd fmla="val 6452" name="adj"/>
            </a:avLst>
          </a:prstGeom>
          <a:solidFill>
            <a:srgbClr val="0B2135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6437376" y="3547872"/>
            <a:ext cx="237744" cy="237744"/>
          </a:xfrm>
          <a:prstGeom prst="ellipse">
            <a:avLst/>
          </a:prstGeom>
          <a:solidFill>
            <a:srgbClr val="8FDC1E"/>
          </a:solidFill>
          <a:ln cap="flat" cmpd="sng" w="12700">
            <a:solidFill>
              <a:srgbClr val="8FD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 txBox="1"/>
          <p:nvPr/>
        </p:nvSpPr>
        <p:spPr>
          <a:xfrm>
            <a:off x="6437376" y="354787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6748272" y="3529584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Recuperación de productos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6455664" y="382219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ingresos del producto ÷ costo de compra × 100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6455664" y="4078224"/>
            <a:ext cx="2139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6E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6E6EF"/>
                </a:solidFill>
                <a:latin typeface="Calibri"/>
                <a:ea typeface="Calibri"/>
                <a:cs typeface="Calibri"/>
                <a:sym typeface="Calibri"/>
              </a:rPr>
              <a:t>Responde al problema central: si lo comprado por crédito fiscal se vende o queda inmovilizado en bodega.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2A8A0"/>
                </a:solidFill>
                <a:latin typeface="Calibri"/>
                <a:ea typeface="Calibri"/>
                <a:cs typeface="Calibri"/>
                <a:sym typeface="Calibri"/>
              </a:rPr>
              <a:t>CALIDAD Y REPOSITORIO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Pruebas de validación y evidencias en Git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2" y="201168"/>
            <a:ext cx="603504" cy="472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4880"/>
            <a:ext cx="274320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9"/>
          <p:cNvSpPr txBox="1"/>
          <p:nvPr/>
        </p:nvSpPr>
        <p:spPr>
          <a:xfrm>
            <a:off x="804672" y="47731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9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  ·  POS Picking  ·  Informe de Avance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457200" y="1024128"/>
            <a:ext cx="1874520" cy="941832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 txBox="1"/>
          <p:nvPr/>
        </p:nvSpPr>
        <p:spPr>
          <a:xfrm>
            <a:off x="548640" y="107899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B3C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361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566928" y="158191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tests backend (pytest) · todos pasan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2468880" y="1024128"/>
            <a:ext cx="1874520" cy="941832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 txBox="1"/>
          <p:nvPr/>
        </p:nvSpPr>
        <p:spPr>
          <a:xfrm>
            <a:off x="2560320" y="107899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F1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5FAF12"/>
                </a:solidFill>
                <a:latin typeface="Calibri"/>
                <a:ea typeface="Calibri"/>
                <a:cs typeface="Calibri"/>
                <a:sym typeface="Calibri"/>
              </a:rPr>
              <a:t>96%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2578608" y="158191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cobertura de líneas del backend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457200" y="2075688"/>
            <a:ext cx="1874520" cy="941832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 txBox="1"/>
          <p:nvPr/>
        </p:nvSpPr>
        <p:spPr>
          <a:xfrm>
            <a:off x="548640" y="213055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B3C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566928" y="263347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tests frontend (Vitest)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2468880" y="2075688"/>
            <a:ext cx="1874520" cy="941832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 txBox="1"/>
          <p:nvPr/>
        </p:nvSpPr>
        <p:spPr>
          <a:xfrm>
            <a:off x="2560320" y="213055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F1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5FAF1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 txBox="1"/>
          <p:nvPr/>
        </p:nvSpPr>
        <p:spPr>
          <a:xfrm>
            <a:off x="2578608" y="263347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B"/>
                </a:solidFill>
                <a:latin typeface="Calibri"/>
                <a:ea typeface="Calibri"/>
                <a:cs typeface="Calibri"/>
                <a:sym typeface="Calibri"/>
              </a:rPr>
              <a:t>sobreventas en la prueba de concurrencia k6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57200" y="3200400"/>
            <a:ext cx="3886200" cy="1463040"/>
          </a:xfrm>
          <a:prstGeom prst="roundRect">
            <a:avLst>
              <a:gd fmla="val 5000" name="adj"/>
            </a:avLst>
          </a:prstGeom>
          <a:solidFill>
            <a:srgbClr val="0B2135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 txBox="1"/>
          <p:nvPr/>
        </p:nvSpPr>
        <p:spPr>
          <a:xfrm>
            <a:off x="640080" y="32735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Resultado de la prueba → mejora aplicada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 txBox="1"/>
          <p:nvPr/>
        </p:nvSpPr>
        <p:spPr>
          <a:xfrm>
            <a:off x="640080" y="356616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Auditoría de seguridad: 22 hallazgos, 20 corregidos (XSS en la boleta, clave JWT por defecto).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k6: con SQLite aparecieron bloqueos de escritura → las pruebas de carga se corren sobre MariaDB.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Lecturas del POS con p95 de 23 ms (20 usuarios virtuales).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4572000" y="10058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Commits por semana · repositorio pos-picking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" name="Google Shape;415;p9"/>
          <p:cNvGraphicFramePr/>
          <p:nvPr/>
        </p:nvGraphicFramePr>
        <p:xfrm>
          <a:off x="4480560" y="1261872"/>
          <a:ext cx="4251960" cy="21031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416" name="Google Shape;416;p9"/>
          <p:cNvSpPr/>
          <p:nvPr/>
        </p:nvSpPr>
        <p:spPr>
          <a:xfrm>
            <a:off x="4572000" y="3474720"/>
            <a:ext cx="1298448" cy="1188720"/>
          </a:xfrm>
          <a:prstGeom prst="roundRect">
            <a:avLst>
              <a:gd fmla="val 6154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4572000" y="3547872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133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 txBox="1"/>
          <p:nvPr/>
        </p:nvSpPr>
        <p:spPr>
          <a:xfrm>
            <a:off x="4645152" y="4023360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commits en total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961888" y="3474720"/>
            <a:ext cx="1298448" cy="1188720"/>
          </a:xfrm>
          <a:prstGeom prst="roundRect">
            <a:avLst>
              <a:gd fmla="val 6154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5961888" y="3547872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 txBox="1"/>
          <p:nvPr/>
        </p:nvSpPr>
        <p:spPr>
          <a:xfrm>
            <a:off x="6035040" y="4023360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commits de etapas (0 a 22)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7351776" y="3474720"/>
            <a:ext cx="1298448" cy="1188720"/>
          </a:xfrm>
          <a:prstGeom prst="roundRect">
            <a:avLst>
              <a:gd fmla="val 6154" name="adj"/>
            </a:avLst>
          </a:prstGeom>
          <a:solidFill>
            <a:srgbClr val="E0F6FB"/>
          </a:solidFill>
          <a:ln cap="flat" cmpd="sng" w="9525">
            <a:solidFill>
              <a:srgbClr val="D5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B213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7351776" y="3547872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135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213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 txBox="1"/>
          <p:nvPr/>
        </p:nvSpPr>
        <p:spPr>
          <a:xfrm>
            <a:off x="7424928" y="4023360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3A"/>
                </a:solidFill>
                <a:latin typeface="Calibri"/>
                <a:ea typeface="Calibri"/>
                <a:cs typeface="Calibri"/>
                <a:sym typeface="Calibri"/>
              </a:rPr>
              <a:t>rondas de feedback del cliente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0" name="Google Shape;4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005840"/>
            <a:ext cx="3840480" cy="3008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0"/>
          <p:cNvSpPr txBox="1"/>
          <p:nvPr/>
        </p:nvSpPr>
        <p:spPr>
          <a:xfrm>
            <a:off x="4846320" y="155448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C1E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8FDC1E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 txBox="1"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b="1" lang="en-US" sz="1600">
                <a:solidFill>
                  <a:srgbClr val="12B3CC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b="1" lang="en-US" sz="160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  ·  POS Picking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9C3D3"/>
                </a:solidFill>
                <a:latin typeface="Calibri"/>
                <a:ea typeface="Calibri"/>
                <a:cs typeface="Calibri"/>
                <a:sym typeface="Calibri"/>
              </a:rPr>
              <a:t>Grupo N°01 · Duoc UC Plaza Norte ·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2026-10-06T22:48:51Z</dcterms:created>
  <dc:creator>SistemasPOS – Grupo 1</dc:creator>
</cp:coreProperties>
</file>