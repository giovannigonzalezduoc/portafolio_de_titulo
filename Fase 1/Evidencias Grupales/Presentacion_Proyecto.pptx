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ghMVilaEf11seBB3RQ45PAleng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2.png"/><Relationship Id="rId4" Type="http://schemas.openxmlformats.org/officeDocument/2006/relationships/image" Target="../media/image16.png"/><Relationship Id="rId5" Type="http://schemas.openxmlformats.org/officeDocument/2006/relationships/image" Target="../media/image2.png"/><Relationship Id="rId6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8.png"/><Relationship Id="rId6" Type="http://schemas.openxmlformats.org/officeDocument/2006/relationships/image" Target="../media/image11.png"/><Relationship Id="rId7" Type="http://schemas.openxmlformats.org/officeDocument/2006/relationships/image" Target="../media/image21.png"/><Relationship Id="rId8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5.png"/><Relationship Id="rId4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27.png"/><Relationship Id="rId5" Type="http://schemas.openxmlformats.org/officeDocument/2006/relationships/image" Target="../media/image23.png"/><Relationship Id="rId6" Type="http://schemas.openxmlformats.org/officeDocument/2006/relationships/image" Target="../media/image17.png"/><Relationship Id="rId7" Type="http://schemas.openxmlformats.org/officeDocument/2006/relationships/image" Target="../media/image15.png"/><Relationship Id="rId8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B4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1E276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02809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PORTAFOLIO DE TÍTULO · FASE 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777240" y="1874520"/>
            <a:ext cx="96012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mbria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Sistema POS Picking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822960" y="3063240"/>
            <a:ext cx="8503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Plataforma inteligente de gestión comercial, inventario y abastecimiento para comercios de alta rotación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822960" y="4160520"/>
            <a:ext cx="1472184" cy="384048"/>
          </a:xfrm>
          <a:prstGeom prst="roundRect">
            <a:avLst>
              <a:gd fmla="val 50000" name="adj"/>
            </a:avLst>
          </a:prstGeom>
          <a:solidFill>
            <a:srgbClr val="1E2761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822960" y="4160520"/>
            <a:ext cx="14721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Ventas (POS)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2478024" y="4160520"/>
            <a:ext cx="1280160" cy="384048"/>
          </a:xfrm>
          <a:prstGeom prst="roundRect">
            <a:avLst>
              <a:gd fmla="val 50000" name="adj"/>
            </a:avLst>
          </a:prstGeom>
          <a:solidFill>
            <a:srgbClr val="1E2761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2478024" y="4160520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Inventario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3941064" y="4160520"/>
            <a:ext cx="992124" cy="384048"/>
          </a:xfrm>
          <a:prstGeom prst="roundRect">
            <a:avLst>
              <a:gd fmla="val 50000" name="adj"/>
            </a:avLst>
          </a:prstGeom>
          <a:solidFill>
            <a:srgbClr val="1E2761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3941064" y="4160520"/>
            <a:ext cx="99212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Compras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5116068" y="4160520"/>
            <a:ext cx="2240280" cy="384048"/>
          </a:xfrm>
          <a:prstGeom prst="roundRect">
            <a:avLst>
              <a:gd fmla="val 50000" name="adj"/>
            </a:avLst>
          </a:prstGeom>
          <a:solidFill>
            <a:srgbClr val="1E2761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5116068" y="4160520"/>
            <a:ext cx="2240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Analítica Predictiva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822960" y="61264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85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A6685"/>
                </a:solidFill>
                <a:latin typeface="Calibri"/>
                <a:ea typeface="Calibri"/>
                <a:cs typeface="Calibri"/>
                <a:sym typeface="Calibri"/>
              </a:rPr>
              <a:t>Definición metodológica del proyecto — Ingeniería en Informática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 txBox="1"/>
          <p:nvPr/>
        </p:nvSpPr>
        <p:spPr>
          <a:xfrm>
            <a:off x="860450" y="4870550"/>
            <a:ext cx="56118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Integrantes: Julian Bernal - Sebastian Osorio - Martín Campos - Giovanni Gonzalez.</a:t>
            </a:r>
            <a:endParaRPr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ANÁLISIS PRELIMINAR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548640" y="566928"/>
            <a:ext cx="10607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Contexto y Problemática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548640" y="1508760"/>
            <a:ext cx="5394960" cy="4709160"/>
          </a:xfrm>
          <a:prstGeom prst="roundRect">
            <a:avLst>
              <a:gd fmla="val 1553" name="adj"/>
            </a:avLst>
          </a:prstGeom>
          <a:solidFill>
            <a:srgbClr val="EDF2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868680" y="1783080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os_ppt/icons/building_w.png" id="40" name="Google Shape;4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9848" y="198424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2"/>
          <p:cNvSpPr/>
          <p:nvPr/>
        </p:nvSpPr>
        <p:spPr>
          <a:xfrm>
            <a:off x="1600200" y="178308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Contexto Organizacional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868680" y="2514600"/>
            <a:ext cx="4754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Empresa liquidadora </a:t>
            </a:r>
            <a:r>
              <a:rPr b="0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dedicada a la venta de excedentes, saldos y mercadería de distintos proveedores.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868680" y="329184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• Alta rotación e ingreso constante de mercadería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868680" y="3639312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• Roles: administrador, bodegueros y vendedores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868680" y="398678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• El control de stock es crítico para la operación diaria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" name="Google Shape;46;p2"/>
          <p:cNvCxnSpPr/>
          <p:nvPr/>
        </p:nvCxnSpPr>
        <p:spPr>
          <a:xfrm>
            <a:off x="868680" y="4526280"/>
            <a:ext cx="4754880" cy="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" name="Google Shape;47;p2"/>
          <p:cNvSpPr/>
          <p:nvPr/>
        </p:nvSpPr>
        <p:spPr>
          <a:xfrm>
            <a:off x="868680" y="4709160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• Compras usadas también para aumentar crédito fiscal, saturando bodega sin trazabilidad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868680" y="5349240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• Riesgo de auditoría / multas del SII por descuadres entre IVA, compras y ventas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6263640" y="1508760"/>
            <a:ext cx="5394960" cy="4709160"/>
          </a:xfrm>
          <a:prstGeom prst="roundRect">
            <a:avLst>
              <a:gd fmla="val 1553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6583680" y="1783080"/>
            <a:ext cx="566928" cy="56692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os_ppt/icons/alert_w.png" id="51" name="Google Shape;5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84848" y="198424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2"/>
          <p:cNvSpPr/>
          <p:nvPr/>
        </p:nvSpPr>
        <p:spPr>
          <a:xfrm>
            <a:off x="7315200" y="178308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Impacto en el Negocio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6583680" y="2560320"/>
            <a:ext cx="109728" cy="10972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6858000" y="2386584"/>
            <a:ext cx="44805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Descuadre crónico. </a:t>
            </a: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entre libros contables y stock físico real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6583680" y="3401568"/>
            <a:ext cx="109728" cy="10972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6858000" y="3227832"/>
            <a:ext cx="44805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Quiebres de stock. </a:t>
            </a: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y compras innecesarias por falta de visibilidad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6583680" y="4242816"/>
            <a:ext cx="109728" cy="10972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6858000" y="4069080"/>
            <a:ext cx="44805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Pérdida de trazabilidad. </a:t>
            </a: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sobre quién ejecuta cada movimiento de inventario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6583680" y="5084064"/>
            <a:ext cx="109728" cy="10972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6858000" y="4910328"/>
            <a:ext cx="44805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Riesgo tributario. </a:t>
            </a: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por inconsistencias entre IVA, compras y ventas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685"/>
                </a:solidFill>
                <a:latin typeface="Calibri"/>
                <a:ea typeface="Calibri"/>
                <a:cs typeface="Calibri"/>
                <a:sym typeface="Calibri"/>
              </a:rPr>
              <a:t>Sistema POS Picking — Fase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6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68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DESCUBRIMIENTO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548640" y="566928"/>
            <a:ext cx="10607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Actores del Sistema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548640" y="1463040"/>
            <a:ext cx="11109960" cy="777240"/>
          </a:xfrm>
          <a:prstGeom prst="roundRect">
            <a:avLst>
              <a:gd fmla="val 9412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777240" y="1586484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os_ppt/icons/users_w.png" id="72" name="Google Shape;7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408" y="1787652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/>
          <p:cNvSpPr/>
          <p:nvPr/>
        </p:nvSpPr>
        <p:spPr>
          <a:xfrm>
            <a:off x="1508760" y="1586484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Usuario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3246120" y="1673352"/>
            <a:ext cx="1554480" cy="384048"/>
          </a:xfrm>
          <a:prstGeom prst="roundRect">
            <a:avLst>
              <a:gd fmla="val 50000" name="adj"/>
            </a:avLst>
          </a:prstGeom>
          <a:solidFill>
            <a:srgbClr val="2A3577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3246120" y="1673352"/>
            <a:ext cx="1554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Administrador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4965192" y="1673352"/>
            <a:ext cx="1188720" cy="384048"/>
          </a:xfrm>
          <a:prstGeom prst="roundRect">
            <a:avLst>
              <a:gd fmla="val 50000" name="adj"/>
            </a:avLst>
          </a:prstGeom>
          <a:solidFill>
            <a:srgbClr val="2A3577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4965192" y="1673352"/>
            <a:ext cx="1188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Bodeguero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6318504" y="1673352"/>
            <a:ext cx="1097280" cy="384048"/>
          </a:xfrm>
          <a:prstGeom prst="roundRect">
            <a:avLst>
              <a:gd fmla="val 50000" name="adj"/>
            </a:avLst>
          </a:prstGeom>
          <a:solidFill>
            <a:srgbClr val="2A3577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6318504" y="1673352"/>
            <a:ext cx="1097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Vendedor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7580376" y="1673352"/>
            <a:ext cx="1920240" cy="384048"/>
          </a:xfrm>
          <a:prstGeom prst="roundRect">
            <a:avLst>
              <a:gd fmla="val 50000" name="adj"/>
            </a:avLst>
          </a:prstGeom>
          <a:solidFill>
            <a:srgbClr val="2A3577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7580376" y="1673352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Cliente Mayorista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548640" y="2468880"/>
            <a:ext cx="3520440" cy="3977640"/>
          </a:xfrm>
          <a:prstGeom prst="roundRect">
            <a:avLst>
              <a:gd fmla="val 2078" name="adj"/>
            </a:avLst>
          </a:prstGeom>
          <a:solidFill>
            <a:srgbClr val="EDF2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804672" y="2697480"/>
            <a:ext cx="502920" cy="502920"/>
          </a:xfrm>
          <a:prstGeom prst="ellipse">
            <a:avLst/>
          </a:prstGeom>
          <a:solidFill>
            <a:srgbClr val="FFFFFF"/>
          </a:solidFill>
          <a:ln cap="flat" cmpd="sng" w="1587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os_ppt/icons/users_t.png" id="84" name="Google Shape;8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3544" y="2816352"/>
            <a:ext cx="265176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3"/>
          <p:cNvSpPr/>
          <p:nvPr/>
        </p:nvSpPr>
        <p:spPr>
          <a:xfrm>
            <a:off x="1417320" y="2697480"/>
            <a:ext cx="2423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Actores Internos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822960" y="3429000"/>
            <a:ext cx="82296" cy="8229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1005840" y="3291840"/>
            <a:ext cx="27889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Administrador </a:t>
            </a:r>
            <a:r>
              <a:rPr lang="en-US" sz="11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supervisa la operación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822960" y="3913632"/>
            <a:ext cx="82296" cy="8229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1005840" y="3776472"/>
            <a:ext cx="27889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Bodeguero</a:t>
            </a:r>
            <a:r>
              <a:rPr lang="en-US" sz="11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recibe y controla productos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822960" y="4398264"/>
            <a:ext cx="82296" cy="8229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1005840" y="4261104"/>
            <a:ext cx="27889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Vendedor </a:t>
            </a:r>
            <a:r>
              <a:rPr lang="en-US" sz="11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registra ventas y atiende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822960" y="4882896"/>
            <a:ext cx="82296" cy="8229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1005840" y="4745736"/>
            <a:ext cx="27889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TI / Soporte </a:t>
            </a:r>
            <a:r>
              <a:rPr lang="en-US" sz="11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mantiene el sistema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822960" y="5367528"/>
            <a:ext cx="82296" cy="8229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1005840" y="5230368"/>
            <a:ext cx="27889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Seguridad de datos</a:t>
            </a:r>
            <a:r>
              <a:rPr lang="en-US" sz="11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protege la información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4343400" y="2468880"/>
            <a:ext cx="3520440" cy="3977640"/>
          </a:xfrm>
          <a:prstGeom prst="roundRect">
            <a:avLst>
              <a:gd fmla="val 2078" name="adj"/>
            </a:avLst>
          </a:prstGeom>
          <a:solidFill>
            <a:srgbClr val="EDF2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"/>
          <p:cNvSpPr/>
          <p:nvPr/>
        </p:nvSpPr>
        <p:spPr>
          <a:xfrm>
            <a:off x="4599432" y="2697480"/>
            <a:ext cx="502920" cy="502920"/>
          </a:xfrm>
          <a:prstGeom prst="ellipse">
            <a:avLst/>
          </a:prstGeom>
          <a:solidFill>
            <a:srgbClr val="FFFFFF"/>
          </a:solidFill>
          <a:ln cap="flat" cmpd="sng" w="1587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os_ppt/icons/globe_t.png" id="98" name="Google Shape;98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18304" y="2816352"/>
            <a:ext cx="265176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3"/>
          <p:cNvSpPr/>
          <p:nvPr/>
        </p:nvSpPr>
        <p:spPr>
          <a:xfrm>
            <a:off x="5212080" y="2697480"/>
            <a:ext cx="2423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Actores Externos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4617720" y="3429000"/>
            <a:ext cx="82296" cy="8229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4800600" y="3291840"/>
            <a:ext cx="27889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Proveedores de mercadería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4617720" y="3913632"/>
            <a:ext cx="82296" cy="8229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4800600" y="3776472"/>
            <a:ext cx="27889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Servicio de boleta electrónica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4617720" y="4398264"/>
            <a:ext cx="82296" cy="8229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"/>
          <p:cNvSpPr/>
          <p:nvPr/>
        </p:nvSpPr>
        <p:spPr>
          <a:xfrm>
            <a:off x="4800600" y="4261104"/>
            <a:ext cx="27889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Base de datos en la nube (Neon)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4617720" y="4882896"/>
            <a:ext cx="82296" cy="8229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4800600" y="4745736"/>
            <a:ext cx="27889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Hosting cloud (Render, Railway)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4617720" y="5367528"/>
            <a:ext cx="82296" cy="8229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4800600" y="5230368"/>
            <a:ext cx="27889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Medios de pago (Transbank)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4617720" y="5852160"/>
            <a:ext cx="82296" cy="8229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"/>
          <p:cNvSpPr/>
          <p:nvPr/>
        </p:nvSpPr>
        <p:spPr>
          <a:xfrm>
            <a:off x="4800600" y="5715000"/>
            <a:ext cx="27889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Soporte técnico de terceros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8138160" y="2468880"/>
            <a:ext cx="3520440" cy="3977640"/>
          </a:xfrm>
          <a:prstGeom prst="roundRect">
            <a:avLst>
              <a:gd fmla="val 2078" name="adj"/>
            </a:avLst>
          </a:prstGeom>
          <a:solidFill>
            <a:srgbClr val="EDF2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8394192" y="2697480"/>
            <a:ext cx="502920" cy="502920"/>
          </a:xfrm>
          <a:prstGeom prst="ellipse">
            <a:avLst/>
          </a:prstGeom>
          <a:solidFill>
            <a:srgbClr val="FFFFFF"/>
          </a:solidFill>
          <a:ln cap="flat" cmpd="sng" w="1587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os_ppt/icons/landmark_t.png" id="114" name="Google Shape;114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13064" y="2816352"/>
            <a:ext cx="265176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3"/>
          <p:cNvSpPr/>
          <p:nvPr/>
        </p:nvSpPr>
        <p:spPr>
          <a:xfrm>
            <a:off x="9006840" y="2697480"/>
            <a:ext cx="2423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Administraciones Públicas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8412480" y="3429000"/>
            <a:ext cx="82296" cy="8229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8595360" y="3291840"/>
            <a:ext cx="27889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Servicio de Impuestos Internos (SII)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8412480" y="3913632"/>
            <a:ext cx="82296" cy="8229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"/>
          <p:cNvSpPr/>
          <p:nvPr/>
        </p:nvSpPr>
        <p:spPr>
          <a:xfrm>
            <a:off x="8595360" y="3776472"/>
            <a:ext cx="27889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Gobierno y organismos reguladores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8412480" y="4398264"/>
            <a:ext cx="82296" cy="8229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"/>
          <p:cNvSpPr/>
          <p:nvPr/>
        </p:nvSpPr>
        <p:spPr>
          <a:xfrm>
            <a:off x="8595360" y="4261104"/>
            <a:ext cx="27889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Entidades de fiscalización comercial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685"/>
                </a:solidFill>
                <a:latin typeface="Calibri"/>
                <a:ea typeface="Calibri"/>
                <a:cs typeface="Calibri"/>
                <a:sym typeface="Calibri"/>
              </a:rPr>
              <a:t>Sistema POS Picking — Fase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6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685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FUNDAMENTACIÓN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548640" y="566928"/>
            <a:ext cx="10607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Justificación y Objetivo General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548640" y="1554480"/>
            <a:ext cx="11109960" cy="1965960"/>
          </a:xfrm>
          <a:prstGeom prst="roundRect">
            <a:avLst>
              <a:gd fmla="val 4651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868680" y="1810512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os_ppt/icons/target_w.png" id="133" name="Google Shape;13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9848" y="2011680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4"/>
          <p:cNvSpPr/>
          <p:nvPr/>
        </p:nvSpPr>
        <p:spPr>
          <a:xfrm>
            <a:off x="1600200" y="1810512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Objetivo General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868680" y="2395728"/>
            <a:ext cx="10515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Desarrollar e implementar el Sistema POS Picking, una plataforma integral de punto de venta e inventario bajo arquitectura offline-first, que centraliza el control de stock, automatiza la validación por roles y la lectura de códigos de barras, e incorpora analítica predictiva (machine learning) para estimar demanda y reposición, reduciendo discrepancias físicas y tiempos operativos.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548640" y="37947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Justificación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548640" y="4297680"/>
            <a:ext cx="3520440" cy="1920240"/>
          </a:xfrm>
          <a:prstGeom prst="roundRect">
            <a:avLst>
              <a:gd fmla="val 3810" name="adj"/>
            </a:avLst>
          </a:prstGeom>
          <a:solidFill>
            <a:srgbClr val="EDF2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804672" y="452628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os_ppt/icons/warehouse_t.png" id="139" name="Google Shape;13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3544" y="4645152"/>
            <a:ext cx="265176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4"/>
          <p:cNvSpPr/>
          <p:nvPr/>
        </p:nvSpPr>
        <p:spPr>
          <a:xfrm>
            <a:off x="804672" y="4526280"/>
            <a:ext cx="502920" cy="502920"/>
          </a:xfrm>
          <a:prstGeom prst="ellipse">
            <a:avLst/>
          </a:prstGeom>
          <a:noFill/>
          <a:ln cap="flat" cmpd="sng" w="1587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"/>
          <p:cNvSpPr/>
          <p:nvPr/>
        </p:nvSpPr>
        <p:spPr>
          <a:xfrm>
            <a:off x="1417320" y="4526280"/>
            <a:ext cx="2423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Operativa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804672" y="5138928"/>
            <a:ext cx="3008376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Reduce errores de conteo y entrega información confiable para ventas y abastecimiento.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4343400" y="4297680"/>
            <a:ext cx="3520440" cy="1920240"/>
          </a:xfrm>
          <a:prstGeom prst="roundRect">
            <a:avLst>
              <a:gd fmla="val 3810" name="adj"/>
            </a:avLst>
          </a:prstGeom>
          <a:solidFill>
            <a:srgbClr val="EDF2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4599432" y="452628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os_ppt/icons/brain_t.png" id="145" name="Google Shape;145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18304" y="4645152"/>
            <a:ext cx="265176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4"/>
          <p:cNvSpPr/>
          <p:nvPr/>
        </p:nvSpPr>
        <p:spPr>
          <a:xfrm>
            <a:off x="4599432" y="4526280"/>
            <a:ext cx="502920" cy="502920"/>
          </a:xfrm>
          <a:prstGeom prst="ellipse">
            <a:avLst/>
          </a:prstGeom>
          <a:noFill/>
          <a:ln cap="flat" cmpd="sng" w="1587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4"/>
          <p:cNvSpPr/>
          <p:nvPr/>
        </p:nvSpPr>
        <p:spPr>
          <a:xfrm>
            <a:off x="5212080" y="4526280"/>
            <a:ext cx="2423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Profesional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4599432" y="5138928"/>
            <a:ext cx="3008376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Aplica desarrollo de software, modelado de datos, seguridad y pruebas sobre una necesidad real.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8138160" y="4297680"/>
            <a:ext cx="3520440" cy="1920240"/>
          </a:xfrm>
          <a:prstGeom prst="roundRect">
            <a:avLst>
              <a:gd fmla="val 3810" name="adj"/>
            </a:avLst>
          </a:prstGeom>
          <a:solidFill>
            <a:srgbClr val="EDF2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4"/>
          <p:cNvSpPr/>
          <p:nvPr/>
        </p:nvSpPr>
        <p:spPr>
          <a:xfrm>
            <a:off x="8394192" y="452628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os_ppt/icons/clipboard_t.png" id="151" name="Google Shape;151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13064" y="4645152"/>
            <a:ext cx="265176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4"/>
          <p:cNvSpPr/>
          <p:nvPr/>
        </p:nvSpPr>
        <p:spPr>
          <a:xfrm>
            <a:off x="8394192" y="4526280"/>
            <a:ext cx="502920" cy="502920"/>
          </a:xfrm>
          <a:prstGeom prst="ellipse">
            <a:avLst/>
          </a:prstGeom>
          <a:noFill/>
          <a:ln cap="flat" cmpd="sng" w="1587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4"/>
          <p:cNvSpPr/>
          <p:nvPr/>
        </p:nvSpPr>
        <p:spPr>
          <a:xfrm>
            <a:off x="9006840" y="4526280"/>
            <a:ext cx="2423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Académica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8394192" y="5138928"/>
            <a:ext cx="3008376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Integra competencias de la carrera: construcción de software, gestión de proyectos y testing.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685"/>
                </a:solidFill>
                <a:latin typeface="Calibri"/>
                <a:ea typeface="Calibri"/>
                <a:cs typeface="Calibri"/>
                <a:sym typeface="Calibri"/>
              </a:rPr>
              <a:t>Sistema POS Picking — Fase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6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685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PLAN DE TRABAJO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548640" y="566928"/>
            <a:ext cx="10607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Objetivos Específicos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548640" y="1508760"/>
            <a:ext cx="5440680" cy="1481328"/>
          </a:xfrm>
          <a:prstGeom prst="roundRect">
            <a:avLst>
              <a:gd fmla="val 4321" name="adj"/>
            </a:avLst>
          </a:prstGeom>
          <a:solidFill>
            <a:srgbClr val="EDF2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"/>
          <p:cNvSpPr/>
          <p:nvPr/>
        </p:nvSpPr>
        <p:spPr>
          <a:xfrm>
            <a:off x="749808" y="1975104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os_ppt/icons/clipboard_w.png" id="166" name="Google Shape;16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824" y="210312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5"/>
          <p:cNvSpPr/>
          <p:nvPr/>
        </p:nvSpPr>
        <p:spPr>
          <a:xfrm>
            <a:off x="749808" y="1581912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1463040" y="1636776"/>
            <a:ext cx="4343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Levantamiento y análisis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1463040" y="2020824"/>
            <a:ext cx="4343400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Observación directa y entrevistas para documentar flujos de entrada, salida, conteo y discrepancias.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6217920" y="1508760"/>
            <a:ext cx="5440680" cy="1481328"/>
          </a:xfrm>
          <a:prstGeom prst="roundRect">
            <a:avLst>
              <a:gd fmla="val 4321" name="adj"/>
            </a:avLst>
          </a:prstGeom>
          <a:solidFill>
            <a:srgbClr val="EDF2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"/>
          <p:cNvSpPr/>
          <p:nvPr/>
        </p:nvSpPr>
        <p:spPr>
          <a:xfrm>
            <a:off x="6419088" y="1975104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os_ppt/icons/database_w.png" id="172" name="Google Shape;17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47104" y="210312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5"/>
          <p:cNvSpPr/>
          <p:nvPr/>
        </p:nvSpPr>
        <p:spPr>
          <a:xfrm>
            <a:off x="6419088" y="1581912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7132320" y="1636776"/>
            <a:ext cx="4343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Modelamiento de datos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7132320" y="2020824"/>
            <a:ext cx="4343400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Modelo relacional de la base de datos implementado y administrado mediante V2Network, centralizando la información de productos, ventas, inventario, usuarios y demás procesos del sistema.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548640" y="3172968"/>
            <a:ext cx="5440680" cy="1481328"/>
          </a:xfrm>
          <a:prstGeom prst="roundRect">
            <a:avLst>
              <a:gd fmla="val 4321" name="adj"/>
            </a:avLst>
          </a:prstGeom>
          <a:solidFill>
            <a:srgbClr val="EDF2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5"/>
          <p:cNvSpPr/>
          <p:nvPr/>
        </p:nvSpPr>
        <p:spPr>
          <a:xfrm>
            <a:off x="749808" y="3639312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os_ppt/icons/server_w.png" id="178" name="Google Shape;17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7824" y="376732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5"/>
          <p:cNvSpPr/>
          <p:nvPr/>
        </p:nvSpPr>
        <p:spPr>
          <a:xfrm>
            <a:off x="749808" y="324612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1463040" y="3300984"/>
            <a:ext cx="4343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Arquitectura y backend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1463040" y="3685032"/>
            <a:ext cx="4343400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API REST para gestionar la comunicación entre el sistema, la base de datos y servicios externos como el SII, incorporando autenticación y validación de los 4 roles de usuario.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6217920" y="3172968"/>
            <a:ext cx="5440680" cy="1481328"/>
          </a:xfrm>
          <a:prstGeom prst="roundRect">
            <a:avLst>
              <a:gd fmla="val 4321" name="adj"/>
            </a:avLst>
          </a:prstGeom>
          <a:solidFill>
            <a:srgbClr val="EDF2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5"/>
          <p:cNvSpPr/>
          <p:nvPr/>
        </p:nvSpPr>
        <p:spPr>
          <a:xfrm>
            <a:off x="6419088" y="3639312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os_ppt/icons/barcode_w.png" id="184" name="Google Shape;184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47104" y="376732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5"/>
          <p:cNvSpPr/>
          <p:nvPr/>
        </p:nvSpPr>
        <p:spPr>
          <a:xfrm>
            <a:off x="6419088" y="324612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7132320" y="3300984"/>
            <a:ext cx="4343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Interfaces y módulo POS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7132320" y="3685032"/>
            <a:ext cx="4343400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Vistas en Angular sobre Electron, con lectura de código de barras y boleta electrónica.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548640" y="4837176"/>
            <a:ext cx="5440680" cy="1481328"/>
          </a:xfrm>
          <a:prstGeom prst="roundRect">
            <a:avLst>
              <a:gd fmla="val 4321" name="adj"/>
            </a:avLst>
          </a:prstGeom>
          <a:solidFill>
            <a:srgbClr val="EDF2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5"/>
          <p:cNvSpPr/>
          <p:nvPr/>
        </p:nvSpPr>
        <p:spPr>
          <a:xfrm>
            <a:off x="749808" y="530352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os_ppt/icons/brain_w.png" id="190" name="Google Shape;190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7824" y="543153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5"/>
          <p:cNvSpPr/>
          <p:nvPr/>
        </p:nvSpPr>
        <p:spPr>
          <a:xfrm>
            <a:off x="749808" y="4910328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1463040" y="4965192"/>
            <a:ext cx="4343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Analítica avanzada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1463040" y="5349240"/>
            <a:ext cx="4343400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Metodología CRISP-DM para modelo predictivo de demanda y reposición en el dashboard.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6217920" y="4837176"/>
            <a:ext cx="5440680" cy="1481328"/>
          </a:xfrm>
          <a:prstGeom prst="roundRect">
            <a:avLst>
              <a:gd fmla="val 4321" name="adj"/>
            </a:avLst>
          </a:prstGeom>
          <a:solidFill>
            <a:srgbClr val="EDF2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5"/>
          <p:cNvSpPr/>
          <p:nvPr/>
        </p:nvSpPr>
        <p:spPr>
          <a:xfrm>
            <a:off x="6419088" y="530352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os_ppt/icons/shield_w.png" id="196" name="Google Shape;196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47104" y="543153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5"/>
          <p:cNvSpPr/>
          <p:nvPr/>
        </p:nvSpPr>
        <p:spPr>
          <a:xfrm>
            <a:off x="6419088" y="4910328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7132320" y="4965192"/>
            <a:ext cx="4343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Certificación y despliegue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7132320" y="5349240"/>
            <a:ext cx="4343400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Plan de pruebas, sincronización certificada e instalador Windows desplegado en la nube.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685"/>
                </a:solidFill>
                <a:latin typeface="Calibri"/>
                <a:ea typeface="Calibri"/>
                <a:cs typeface="Calibri"/>
                <a:sym typeface="Calibri"/>
              </a:rPr>
              <a:t>Sistema POS Picking — Fase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6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685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B47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6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1E2761">
              <a:alpha val="5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6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VISIÓN DEL PRODUCTO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548640" y="621792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Product Goal y Pilares Estratégicos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548640" y="1371600"/>
            <a:ext cx="11109960" cy="1051560"/>
          </a:xfrm>
          <a:prstGeom prst="roundRect">
            <a:avLst>
              <a:gd fmla="val 6957" name="adj"/>
            </a:avLst>
          </a:prstGeom>
          <a:solidFill>
            <a:srgbClr val="2A35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6"/>
          <p:cNvSpPr/>
          <p:nvPr/>
        </p:nvSpPr>
        <p:spPr>
          <a:xfrm>
            <a:off x="868680" y="1463040"/>
            <a:ext cx="10515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Erradicar la desconexión operativa entre ventas, inventario y abastecimiento: centralizar la información, automatizar registros vía código de barras y boleta electrónica, y entregar analítica en tiempo real para una gestión estratégica basada en datos.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548640" y="2697480"/>
            <a:ext cx="2651760" cy="3520440"/>
          </a:xfrm>
          <a:prstGeom prst="roundRect">
            <a:avLst>
              <a:gd fmla="val 2759" name="adj"/>
            </a:avLst>
          </a:prstGeom>
          <a:solidFill>
            <a:srgbClr val="1E2761"/>
          </a:solidFill>
          <a:ln cap="flat" cmpd="sng" w="95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6"/>
          <p:cNvSpPr/>
          <p:nvPr/>
        </p:nvSpPr>
        <p:spPr>
          <a:xfrm>
            <a:off x="1591056" y="2971800"/>
            <a:ext cx="566928" cy="56692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os_ppt/icons/cart_w.png" id="214" name="Google Shape;21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2224" y="317296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6"/>
          <p:cNvSpPr/>
          <p:nvPr/>
        </p:nvSpPr>
        <p:spPr>
          <a:xfrm>
            <a:off x="685800" y="3703320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Valor para el Cliente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731520" y="4315968"/>
            <a:ext cx="22860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Interfaz ágil en el punto de venta que reduce carga administrativa y evita pérdida de ventas por quiebres de stock.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3401568" y="2697480"/>
            <a:ext cx="2651760" cy="3520440"/>
          </a:xfrm>
          <a:prstGeom prst="roundRect">
            <a:avLst>
              <a:gd fmla="val 2759" name="adj"/>
            </a:avLst>
          </a:prstGeom>
          <a:solidFill>
            <a:srgbClr val="1E2761"/>
          </a:solidFill>
          <a:ln cap="flat" cmpd="sng" w="95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6"/>
          <p:cNvSpPr/>
          <p:nvPr/>
        </p:nvSpPr>
        <p:spPr>
          <a:xfrm>
            <a:off x="4443984" y="2971800"/>
            <a:ext cx="566928" cy="56692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os_ppt/icons/server_w.png" id="219" name="Google Shape;21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45152" y="317296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6"/>
          <p:cNvSpPr/>
          <p:nvPr/>
        </p:nvSpPr>
        <p:spPr>
          <a:xfrm>
            <a:off x="3538728" y="3703320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Factibilidad Técnica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3584448" y="4315968"/>
            <a:ext cx="22860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rquitectura híbrida que utiliza Angular para la aplicación ejecutable (.exe) y Django Framework para la lógica de negocio y gestión del sistema POS Picking, mediante comunicación segura entre ambos componentes. 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6254496" y="2697480"/>
            <a:ext cx="2651760" cy="3520440"/>
          </a:xfrm>
          <a:prstGeom prst="roundRect">
            <a:avLst>
              <a:gd fmla="val 2759" name="adj"/>
            </a:avLst>
          </a:prstGeom>
          <a:solidFill>
            <a:srgbClr val="1E2761"/>
          </a:solidFill>
          <a:ln cap="flat" cmpd="sng" w="95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6"/>
          <p:cNvSpPr/>
          <p:nvPr/>
        </p:nvSpPr>
        <p:spPr>
          <a:xfrm>
            <a:off x="7296912" y="2971800"/>
            <a:ext cx="566928" cy="56692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os_ppt/icons/users_w.png" id="224" name="Google Shape;224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98080" y="317296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6"/>
          <p:cNvSpPr/>
          <p:nvPr/>
        </p:nvSpPr>
        <p:spPr>
          <a:xfrm>
            <a:off x="6391656" y="3703320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Impacto Organizacional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6437376" y="4315968"/>
            <a:ext cx="22860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Roles con niveles de acceso que separan quién registra de quién aprueba, reduciendo irregularidades.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9107424" y="2697480"/>
            <a:ext cx="2651760" cy="3520440"/>
          </a:xfrm>
          <a:prstGeom prst="roundRect">
            <a:avLst>
              <a:gd fmla="val 2759" name="adj"/>
            </a:avLst>
          </a:prstGeom>
          <a:solidFill>
            <a:srgbClr val="1E2761"/>
          </a:solidFill>
          <a:ln cap="flat" cmpd="sng" w="95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6"/>
          <p:cNvSpPr/>
          <p:nvPr/>
        </p:nvSpPr>
        <p:spPr>
          <a:xfrm>
            <a:off x="10149840" y="2971800"/>
            <a:ext cx="566928" cy="56692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os_ppt/icons/trending_w.png" id="229" name="Google Shape;229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51008" y="317296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6"/>
          <p:cNvSpPr/>
          <p:nvPr/>
        </p:nvSpPr>
        <p:spPr>
          <a:xfrm>
            <a:off x="9244584" y="3703320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Sostenibilidad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9290304" y="4315968"/>
            <a:ext cx="22860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Código modular y buenas prácticas que permiten escalar hacia e-commerce y nuevos módulos futuros.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685"/>
                </a:solidFill>
                <a:latin typeface="Calibri"/>
                <a:ea typeface="Calibri"/>
                <a:cs typeface="Calibri"/>
                <a:sym typeface="Calibri"/>
              </a:rPr>
              <a:t>Sistema POS Picking — Fase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6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685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Sistema POS Picking — Fase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7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DELIMITACIÓN DEL PROYECTO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548640" y="566928"/>
            <a:ext cx="10607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Alcance — Impact Mapping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548640" y="1508760"/>
            <a:ext cx="11109960" cy="457200"/>
          </a:xfrm>
          <a:prstGeom prst="roundRect">
            <a:avLst>
              <a:gd fmla="val 12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7"/>
          <p:cNvSpPr/>
          <p:nvPr/>
        </p:nvSpPr>
        <p:spPr>
          <a:xfrm>
            <a:off x="548640" y="150876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Actor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2880360" y="1508760"/>
            <a:ext cx="4343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Impacto Deseado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7360920" y="1508760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Entregables Clave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548640" y="2011680"/>
            <a:ext cx="11109960" cy="868680"/>
          </a:xfrm>
          <a:prstGeom prst="rect">
            <a:avLst/>
          </a:prstGeom>
          <a:solidFill>
            <a:srgbClr val="EDF2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7"/>
          <p:cNvSpPr/>
          <p:nvPr/>
        </p:nvSpPr>
        <p:spPr>
          <a:xfrm>
            <a:off x="548640" y="2011680"/>
            <a:ext cx="2194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Administrador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2880360" y="2011680"/>
            <a:ext cx="41605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Reducir mermas y fraudes internos; anticipar quiebres de mercadería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7360920" y="2011680"/>
            <a:ext cx="42976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16670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016670"/>
                </a:solidFill>
                <a:latin typeface="Calibri"/>
                <a:ea typeface="Calibri"/>
                <a:cs typeface="Calibri"/>
                <a:sym typeface="Calibri"/>
              </a:rPr>
              <a:t>Dashboard KPI · Alertas · Aprobación de discrepancias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548640" y="2880360"/>
            <a:ext cx="111099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7"/>
          <p:cNvSpPr/>
          <p:nvPr/>
        </p:nvSpPr>
        <p:spPr>
          <a:xfrm>
            <a:off x="548640" y="2880360"/>
            <a:ext cx="2194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Bodeguero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2880360" y="2880360"/>
            <a:ext cx="41605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Eliminar errores de conteo manual y agilizar recepción de lotes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7360920" y="2880360"/>
            <a:ext cx="42976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16670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016670"/>
                </a:solidFill>
                <a:latin typeface="Calibri"/>
                <a:ea typeface="Calibri"/>
                <a:cs typeface="Calibri"/>
                <a:sym typeface="Calibri"/>
              </a:rPr>
              <a:t>Módulo de compras · Inventario físico con código de barras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548640" y="3749040"/>
            <a:ext cx="11109960" cy="868680"/>
          </a:xfrm>
          <a:prstGeom prst="rect">
            <a:avLst/>
          </a:prstGeom>
          <a:solidFill>
            <a:srgbClr val="EDF2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7"/>
          <p:cNvSpPr/>
          <p:nvPr/>
        </p:nvSpPr>
        <p:spPr>
          <a:xfrm>
            <a:off x="548640" y="3749040"/>
            <a:ext cx="2194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Vendedor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2880360" y="3749040"/>
            <a:ext cx="41605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Vender sin interrupciones por caídas de internet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7360920" y="3749040"/>
            <a:ext cx="42976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16670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016670"/>
                </a:solidFill>
                <a:latin typeface="Calibri"/>
                <a:ea typeface="Calibri"/>
                <a:cs typeface="Calibri"/>
                <a:sym typeface="Calibri"/>
              </a:rPr>
              <a:t>Módulo POS</a:t>
            </a:r>
            <a:r>
              <a:rPr i="1" lang="en-US" sz="1150">
                <a:solidFill>
                  <a:srgbClr val="016670"/>
                </a:solidFill>
                <a:latin typeface="Calibri"/>
                <a:ea typeface="Calibri"/>
                <a:cs typeface="Calibri"/>
                <a:sym typeface="Calibri"/>
              </a:rPr>
              <a:t> Picking</a:t>
            </a:r>
            <a:r>
              <a:rPr b="0" i="1" lang="en-US" sz="1150" u="none" cap="none" strike="noStrike">
                <a:solidFill>
                  <a:srgbClr val="016670"/>
                </a:solidFill>
                <a:latin typeface="Calibri"/>
                <a:ea typeface="Calibri"/>
                <a:cs typeface="Calibri"/>
                <a:sym typeface="Calibri"/>
              </a:rPr>
              <a:t> · Boleta electrónica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548640" y="4617720"/>
            <a:ext cx="111099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7"/>
          <p:cNvSpPr/>
          <p:nvPr/>
        </p:nvSpPr>
        <p:spPr>
          <a:xfrm>
            <a:off x="548640" y="4617720"/>
            <a:ext cx="2194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Cliente Mayorista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2880360" y="4617720"/>
            <a:ext cx="41605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Visualizar ofertas y precios personalizados según su perfil de cliente mayorista. 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7360920" y="4617720"/>
            <a:ext cx="42976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16670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016670"/>
                </a:solidFill>
                <a:latin typeface="Calibri"/>
                <a:ea typeface="Calibri"/>
                <a:cs typeface="Calibri"/>
                <a:sym typeface="Calibri"/>
              </a:rPr>
              <a:t>Interfaz conectada a la API REST para consultar ofertas y precios. 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3" name="Google Shape;263;p7"/>
          <p:cNvCxnSpPr/>
          <p:nvPr/>
        </p:nvCxnSpPr>
        <p:spPr>
          <a:xfrm>
            <a:off x="548640" y="2011680"/>
            <a:ext cx="0" cy="3474720"/>
          </a:xfrm>
          <a:prstGeom prst="straightConnector1">
            <a:avLst/>
          </a:prstGeom>
          <a:noFill/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4" name="Google Shape;264;p7"/>
          <p:cNvSpPr/>
          <p:nvPr/>
        </p:nvSpPr>
        <p:spPr>
          <a:xfrm>
            <a:off x="548640" y="5623560"/>
            <a:ext cx="11109960" cy="658368"/>
          </a:xfrm>
          <a:prstGeom prst="roundRect">
            <a:avLst>
              <a:gd fmla="val 8333" name="adj"/>
            </a:avLst>
          </a:prstGeom>
          <a:solidFill>
            <a:srgbClr val="EDF2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7"/>
          <p:cNvSpPr/>
          <p:nvPr/>
        </p:nvSpPr>
        <p:spPr>
          <a:xfrm>
            <a:off x="731520" y="5751576"/>
            <a:ext cx="402336" cy="402336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os_ppt/icons/filewarning_w.png" id="266" name="Google Shape;26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5843016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7"/>
          <p:cNvSpPr/>
          <p:nvPr/>
        </p:nvSpPr>
        <p:spPr>
          <a:xfrm>
            <a:off x="1280160" y="5623560"/>
            <a:ext cx="101955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Fuera de alcance: </a:t>
            </a:r>
            <a:r>
              <a:rPr b="0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diseño técnico definitivo, ejecución de sprints, pruebas finales, evaluación económica completa y despliegue productivo — se abordarán en fases posteriores.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685"/>
                </a:solidFill>
                <a:latin typeface="Calibri"/>
                <a:ea typeface="Calibri"/>
                <a:cs typeface="Calibri"/>
                <a:sym typeface="Calibri"/>
              </a:rPr>
              <a:t>Sistema POS Picking — Fase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6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685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B47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8"/>
          <p:cNvSpPr/>
          <p:nvPr/>
        </p:nvSpPr>
        <p:spPr>
          <a:xfrm>
            <a:off x="9692640" y="-1280160"/>
            <a:ext cx="3657600" cy="3657600"/>
          </a:xfrm>
          <a:prstGeom prst="ellipse">
            <a:avLst/>
          </a:prstGeom>
          <a:solidFill>
            <a:srgbClr val="1E2761">
              <a:alpha val="5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8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SÍNTESIS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548640" y="621792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Entregables Clave del Sistema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548640" y="1417320"/>
            <a:ext cx="3520440" cy="1691640"/>
          </a:xfrm>
          <a:prstGeom prst="roundRect">
            <a:avLst>
              <a:gd fmla="val 4324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8"/>
          <p:cNvSpPr/>
          <p:nvPr/>
        </p:nvSpPr>
        <p:spPr>
          <a:xfrm>
            <a:off x="777240" y="1645920"/>
            <a:ext cx="502920" cy="50292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os_ppt/icons/barcode_w.png" id="280" name="Google Shape;28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408" y="1847088"/>
            <a:ext cx="100584" cy="100584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8"/>
          <p:cNvSpPr/>
          <p:nvPr/>
        </p:nvSpPr>
        <p:spPr>
          <a:xfrm>
            <a:off x="777240" y="2286000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Módulo POS + código de barras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777240" y="269748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Ventas </a:t>
            </a:r>
            <a:r>
              <a:rPr lang="en-US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POS Picking</a:t>
            </a: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con captura automática de productos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4343400" y="1417320"/>
            <a:ext cx="3520440" cy="1691640"/>
          </a:xfrm>
          <a:prstGeom prst="roundRect">
            <a:avLst>
              <a:gd fmla="val 4324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8"/>
          <p:cNvSpPr/>
          <p:nvPr/>
        </p:nvSpPr>
        <p:spPr>
          <a:xfrm>
            <a:off x="4572000" y="1645920"/>
            <a:ext cx="502920" cy="50292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os_ppt/icons/warehouse_w.png" id="285" name="Google Shape;28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73168" y="1847088"/>
            <a:ext cx="100584" cy="100584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8"/>
          <p:cNvSpPr/>
          <p:nvPr/>
        </p:nvSpPr>
        <p:spPr>
          <a:xfrm>
            <a:off x="4572000" y="2286000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Inventario en tiempo real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4572000" y="269748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Trazabilidad completa y control de discrepancias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8138160" y="1417320"/>
            <a:ext cx="3520440" cy="1691640"/>
          </a:xfrm>
          <a:prstGeom prst="roundRect">
            <a:avLst>
              <a:gd fmla="val 4324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8"/>
          <p:cNvSpPr/>
          <p:nvPr/>
        </p:nvSpPr>
        <p:spPr>
          <a:xfrm>
            <a:off x="8366760" y="1645920"/>
            <a:ext cx="502920" cy="50292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os_ppt/icons/truck_w.png" id="290" name="Google Shape;290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67928" y="1847088"/>
            <a:ext cx="100584" cy="100584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8"/>
          <p:cNvSpPr/>
          <p:nvPr/>
        </p:nvSpPr>
        <p:spPr>
          <a:xfrm>
            <a:off x="8366760" y="2286000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Compras y proveedores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8"/>
          <p:cNvSpPr/>
          <p:nvPr/>
        </p:nvSpPr>
        <p:spPr>
          <a:xfrm>
            <a:off x="8366760" y="269748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Órdenes de compra con actualización directa de stock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548640" y="3337560"/>
            <a:ext cx="3520440" cy="1691640"/>
          </a:xfrm>
          <a:prstGeom prst="roundRect">
            <a:avLst>
              <a:gd fmla="val 4324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8"/>
          <p:cNvSpPr/>
          <p:nvPr/>
        </p:nvSpPr>
        <p:spPr>
          <a:xfrm>
            <a:off x="777240" y="3566160"/>
            <a:ext cx="502920" cy="50292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os_ppt/icons/dashboard_w.png" id="295" name="Google Shape;295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8408" y="3767328"/>
            <a:ext cx="100584" cy="100584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8"/>
          <p:cNvSpPr/>
          <p:nvPr/>
        </p:nvSpPr>
        <p:spPr>
          <a:xfrm>
            <a:off x="777240" y="4206240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Dashboard operacional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777240" y="461772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KPI de ventas, rotación y analítica predictiva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4343400" y="3337560"/>
            <a:ext cx="3520440" cy="1691640"/>
          </a:xfrm>
          <a:prstGeom prst="roundRect">
            <a:avLst>
              <a:gd fmla="val 4324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8"/>
          <p:cNvSpPr/>
          <p:nvPr/>
        </p:nvSpPr>
        <p:spPr>
          <a:xfrm>
            <a:off x="4572000" y="3566160"/>
            <a:ext cx="502920" cy="50292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os_ppt/icons/shield_w.png" id="300" name="Google Shape;300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73168" y="3767328"/>
            <a:ext cx="100584" cy="100584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8"/>
          <p:cNvSpPr/>
          <p:nvPr/>
        </p:nvSpPr>
        <p:spPr>
          <a:xfrm>
            <a:off x="4572000" y="4206240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Seguridad y roles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8"/>
          <p:cNvSpPr/>
          <p:nvPr/>
        </p:nvSpPr>
        <p:spPr>
          <a:xfrm>
            <a:off x="4572000" y="461772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Autenticación, RBAC y auditoría de operaciones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8"/>
          <p:cNvSpPr/>
          <p:nvPr/>
        </p:nvSpPr>
        <p:spPr>
          <a:xfrm>
            <a:off x="8138160" y="3337560"/>
            <a:ext cx="3520440" cy="1691640"/>
          </a:xfrm>
          <a:prstGeom prst="roundRect">
            <a:avLst>
              <a:gd fmla="val 4324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8"/>
          <p:cNvSpPr/>
          <p:nvPr/>
        </p:nvSpPr>
        <p:spPr>
          <a:xfrm>
            <a:off x="8366760" y="3566160"/>
            <a:ext cx="502920" cy="50292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os_ppt/icons/receipt_w.png" id="305" name="Google Shape;305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67928" y="3767328"/>
            <a:ext cx="100584" cy="100584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8"/>
          <p:cNvSpPr/>
          <p:nvPr/>
        </p:nvSpPr>
        <p:spPr>
          <a:xfrm>
            <a:off x="8366760" y="4206240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Boleta electrónica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8"/>
          <p:cNvSpPr/>
          <p:nvPr/>
        </p:nvSpPr>
        <p:spPr>
          <a:xfrm>
            <a:off x="8366760" y="461772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Integración con mecanismo autorizado del SII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548640" y="64008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Portafolio de Título · Fase 1 — Definición Metodológica del Sistema POS Picking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2026-08-30T16:05:19Z</dcterms:created>
  <dc:creator>PptxGenJS</dc:creator>
</cp:coreProperties>
</file>